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4B4877-CA14-49BF-A2B8-9802A905A9F4}" v="3" dt="2026-07-03T05:59:41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2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Khajuria" userId="9085ed2a-7f0a-4ddb-a3ab-24be146f43b6" providerId="ADAL" clId="{76175545-97A6-4354-AD1D-4F67FA009ECE}"/>
    <pc:docChg chg="undo custSel addSld delSld modSld">
      <pc:chgData name="Nikhil Khajuria" userId="9085ed2a-7f0a-4ddb-a3ab-24be146f43b6" providerId="ADAL" clId="{76175545-97A6-4354-AD1D-4F67FA009ECE}" dt="2026-07-03T05:59:49.201" v="52" actId="6549"/>
      <pc:docMkLst>
        <pc:docMk/>
      </pc:docMkLst>
      <pc:sldChg chg="modSp mod">
        <pc:chgData name="Nikhil Khajuria" userId="9085ed2a-7f0a-4ddb-a3ab-24be146f43b6" providerId="ADAL" clId="{76175545-97A6-4354-AD1D-4F67FA009ECE}" dt="2026-07-03T05:59:49.201" v="52" actId="6549"/>
        <pc:sldMkLst>
          <pc:docMk/>
          <pc:sldMk cId="0" sldId="256"/>
        </pc:sldMkLst>
        <pc:spChg chg="mod">
          <ac:chgData name="Nikhil Khajuria" userId="9085ed2a-7f0a-4ddb-a3ab-24be146f43b6" providerId="ADAL" clId="{76175545-97A6-4354-AD1D-4F67FA009ECE}" dt="2026-07-03T05:59:37.155" v="27" actId="276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49.201" v="52" actId="6549"/>
          <ac:spMkLst>
            <pc:docMk/>
            <pc:sldMk cId="0" sldId="256"/>
            <ac:spMk id="14" creationId="{00000000-0000-0000-0000-000000000000}"/>
          </ac:spMkLst>
        </pc:spChg>
      </pc:sldChg>
      <pc:sldChg chg="modSp mod">
        <pc:chgData name="Nikhil Khajuria" userId="9085ed2a-7f0a-4ddb-a3ab-24be146f43b6" providerId="ADAL" clId="{76175545-97A6-4354-AD1D-4F67FA009ECE}" dt="2026-07-03T05:59:37.187" v="34" actId="27636"/>
        <pc:sldMkLst>
          <pc:docMk/>
          <pc:sldMk cId="0" sldId="257"/>
        </pc:sldMkLst>
        <pc:spChg chg="mod">
          <ac:chgData name="Nikhil Khajuria" userId="9085ed2a-7f0a-4ddb-a3ab-24be146f43b6" providerId="ADAL" clId="{76175545-97A6-4354-AD1D-4F67FA009ECE}" dt="2026-07-03T05:59:37.183" v="33" actId="2763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37.187" v="34" actId="2763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37.183" v="31" actId="27636"/>
          <ac:spMkLst>
            <pc:docMk/>
            <pc:sldMk cId="0" sldId="257"/>
            <ac:spMk id="37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37.178" v="30" actId="27636"/>
          <ac:spMkLst>
            <pc:docMk/>
            <pc:sldMk cId="0" sldId="257"/>
            <ac:spMk id="45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37.178" v="29" actId="27636"/>
          <ac:spMkLst>
            <pc:docMk/>
            <pc:sldMk cId="0" sldId="257"/>
            <ac:spMk id="53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37.174" v="28" actId="27636"/>
          <ac:spMkLst>
            <pc:docMk/>
            <pc:sldMk cId="0" sldId="257"/>
            <ac:spMk id="54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37.183" v="32" actId="27636"/>
          <ac:spMkLst>
            <pc:docMk/>
            <pc:sldMk cId="0" sldId="257"/>
            <ac:spMk id="62" creationId="{00000000-0000-0000-0000-000000000000}"/>
          </ac:spMkLst>
        </pc:spChg>
      </pc:sldChg>
      <pc:sldChg chg="modSp mod">
        <pc:chgData name="Nikhil Khajuria" userId="9085ed2a-7f0a-4ddb-a3ab-24be146f43b6" providerId="ADAL" clId="{76175545-97A6-4354-AD1D-4F67FA009ECE}" dt="2026-07-03T05:59:37.203" v="38" actId="27636"/>
        <pc:sldMkLst>
          <pc:docMk/>
          <pc:sldMk cId="0" sldId="258"/>
        </pc:sldMkLst>
        <pc:spChg chg="mod">
          <ac:chgData name="Nikhil Khajuria" userId="9085ed2a-7f0a-4ddb-a3ab-24be146f43b6" providerId="ADAL" clId="{76175545-97A6-4354-AD1D-4F67FA009ECE}" dt="2026-07-03T05:59:37.195" v="35" actId="2763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37.203" v="38" actId="2763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37.199" v="37" actId="27636"/>
          <ac:spMkLst>
            <pc:docMk/>
            <pc:sldMk cId="0" sldId="258"/>
            <ac:spMk id="54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37.198" v="36" actId="27636"/>
          <ac:spMkLst>
            <pc:docMk/>
            <pc:sldMk cId="0" sldId="258"/>
            <ac:spMk id="69" creationId="{00000000-0000-0000-0000-000000000000}"/>
          </ac:spMkLst>
        </pc:spChg>
      </pc:sldChg>
      <pc:sldChg chg="add del setBg">
        <pc:chgData name="Nikhil Khajuria" userId="9085ed2a-7f0a-4ddb-a3ab-24be146f43b6" providerId="ADAL" clId="{76175545-97A6-4354-AD1D-4F67FA009ECE}" dt="2026-07-03T05:59:41.710" v="39"/>
        <pc:sldMkLst>
          <pc:docMk/>
          <pc:sldMk cId="0" sldId="268"/>
        </pc:sldMkLst>
      </pc:sldChg>
      <pc:sldChg chg="add del setBg">
        <pc:chgData name="Nikhil Khajuria" userId="9085ed2a-7f0a-4ddb-a3ab-24be146f43b6" providerId="ADAL" clId="{76175545-97A6-4354-AD1D-4F67FA009ECE}" dt="2026-07-03T05:59:41.710" v="39"/>
        <pc:sldMkLst>
          <pc:docMk/>
          <pc:sldMk cId="0" sldId="269"/>
        </pc:sldMkLst>
      </pc:sldChg>
      <pc:sldChg chg="add del setBg">
        <pc:chgData name="Nikhil Khajuria" userId="9085ed2a-7f0a-4ddb-a3ab-24be146f43b6" providerId="ADAL" clId="{76175545-97A6-4354-AD1D-4F67FA009ECE}" dt="2026-07-03T05:59:41.710" v="39"/>
        <pc:sldMkLst>
          <pc:docMk/>
          <pc:sldMk cId="0" sldId="270"/>
        </pc:sldMkLst>
      </pc:sldChg>
      <pc:sldChg chg="add del setBg">
        <pc:chgData name="Nikhil Khajuria" userId="9085ed2a-7f0a-4ddb-a3ab-24be146f43b6" providerId="ADAL" clId="{76175545-97A6-4354-AD1D-4F67FA009ECE}" dt="2026-07-03T05:59:41.710" v="39"/>
        <pc:sldMkLst>
          <pc:docMk/>
          <pc:sldMk cId="0" sldId="271"/>
        </pc:sldMkLst>
      </pc:sldChg>
      <pc:sldChg chg="add del setBg">
        <pc:chgData name="Nikhil Khajuria" userId="9085ed2a-7f0a-4ddb-a3ab-24be146f43b6" providerId="ADAL" clId="{76175545-97A6-4354-AD1D-4F67FA009ECE}" dt="2026-07-03T05:59:41.710" v="39"/>
        <pc:sldMkLst>
          <pc:docMk/>
          <pc:sldMk cId="0" sldId="272"/>
        </pc:sldMkLst>
      </pc:sldChg>
      <pc:sldChg chg="add del setBg">
        <pc:chgData name="Nikhil Khajuria" userId="9085ed2a-7f0a-4ddb-a3ab-24be146f43b6" providerId="ADAL" clId="{76175545-97A6-4354-AD1D-4F67FA009ECE}" dt="2026-07-03T05:59:41.710" v="39"/>
        <pc:sldMkLst>
          <pc:docMk/>
          <pc:sldMk cId="0" sldId="273"/>
        </pc:sldMkLst>
      </pc:sldChg>
      <pc:sldChg chg="modSp add del mod setBg">
        <pc:chgData name="Nikhil Khajuria" userId="9085ed2a-7f0a-4ddb-a3ab-24be146f43b6" providerId="ADAL" clId="{76175545-97A6-4354-AD1D-4F67FA009ECE}" dt="2026-07-03T05:59:41.864" v="51" actId="27636"/>
        <pc:sldMkLst>
          <pc:docMk/>
          <pc:sldMk cId="0" sldId="274"/>
        </pc:sldMkLst>
        <pc:spChg chg="mod">
          <ac:chgData name="Nikhil Khajuria" userId="9085ed2a-7f0a-4ddb-a3ab-24be146f43b6" providerId="ADAL" clId="{76175545-97A6-4354-AD1D-4F67FA009ECE}" dt="2026-07-03T05:59:41.820" v="41" actId="27636"/>
          <ac:spMkLst>
            <pc:docMk/>
            <pc:sldMk cId="0" sldId="274"/>
            <ac:spMk id="26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41.824" v="42" actId="27636"/>
          <ac:spMkLst>
            <pc:docMk/>
            <pc:sldMk cId="0" sldId="274"/>
            <ac:spMk id="28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41.829" v="43" actId="27636"/>
          <ac:spMkLst>
            <pc:docMk/>
            <pc:sldMk cId="0" sldId="274"/>
            <ac:spMk id="30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41.846" v="46" actId="27636"/>
          <ac:spMkLst>
            <pc:docMk/>
            <pc:sldMk cId="0" sldId="274"/>
            <ac:spMk id="41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41.835" v="44" actId="27636"/>
          <ac:spMkLst>
            <pc:docMk/>
            <pc:sldMk cId="0" sldId="274"/>
            <ac:spMk id="43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41.840" v="45" actId="27636"/>
          <ac:spMkLst>
            <pc:docMk/>
            <pc:sldMk cId="0" sldId="274"/>
            <ac:spMk id="45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41.859" v="49" actId="27636"/>
          <ac:spMkLst>
            <pc:docMk/>
            <pc:sldMk cId="0" sldId="274"/>
            <ac:spMk id="56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41.854" v="48" actId="27636"/>
          <ac:spMkLst>
            <pc:docMk/>
            <pc:sldMk cId="0" sldId="274"/>
            <ac:spMk id="58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41.820" v="40" actId="27636"/>
          <ac:spMkLst>
            <pc:docMk/>
            <pc:sldMk cId="0" sldId="274"/>
            <ac:spMk id="60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41.851" v="47" actId="27636"/>
          <ac:spMkLst>
            <pc:docMk/>
            <pc:sldMk cId="0" sldId="274"/>
            <ac:spMk id="71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41.864" v="51" actId="27636"/>
          <ac:spMkLst>
            <pc:docMk/>
            <pc:sldMk cId="0" sldId="274"/>
            <ac:spMk id="73" creationId="{00000000-0000-0000-0000-000000000000}"/>
          </ac:spMkLst>
        </pc:spChg>
        <pc:spChg chg="mod">
          <ac:chgData name="Nikhil Khajuria" userId="9085ed2a-7f0a-4ddb-a3ab-24be146f43b6" providerId="ADAL" clId="{76175545-97A6-4354-AD1D-4F67FA009ECE}" dt="2026-07-03T05:59:41.862" v="50" actId="27636"/>
          <ac:spMkLst>
            <pc:docMk/>
            <pc:sldMk cId="0" sldId="274"/>
            <ac:spMk id="75" creationId="{00000000-0000-0000-0000-000000000000}"/>
          </ac:spMkLst>
        </pc:spChg>
      </pc:sldChg>
      <pc:sldChg chg="add del setBg">
        <pc:chgData name="Nikhil Khajuria" userId="9085ed2a-7f0a-4ddb-a3ab-24be146f43b6" providerId="ADAL" clId="{76175545-97A6-4354-AD1D-4F67FA009ECE}" dt="2026-07-03T05:59:41.710" v="39"/>
        <pc:sldMkLst>
          <pc:docMk/>
          <pc:sldMk cId="0" sldId="275"/>
        </pc:sldMkLst>
      </pc:sldChg>
      <pc:sldChg chg="add del setBg">
        <pc:chgData name="Nikhil Khajuria" userId="9085ed2a-7f0a-4ddb-a3ab-24be146f43b6" providerId="ADAL" clId="{76175545-97A6-4354-AD1D-4F67FA009ECE}" dt="2026-07-03T05:59:41.710" v="39"/>
        <pc:sldMkLst>
          <pc:docMk/>
          <pc:sldMk cId="0" sldId="276"/>
        </pc:sldMkLst>
      </pc:sldChg>
      <pc:sldChg chg="add del setBg">
        <pc:chgData name="Nikhil Khajuria" userId="9085ed2a-7f0a-4ddb-a3ab-24be146f43b6" providerId="ADAL" clId="{76175545-97A6-4354-AD1D-4F67FA009ECE}" dt="2026-07-03T05:59:41.710" v="39"/>
        <pc:sldMkLst>
          <pc:docMk/>
          <pc:sldMk cId="0" sldId="277"/>
        </pc:sldMkLst>
      </pc:sldChg>
      <pc:sldChg chg="add del setBg">
        <pc:chgData name="Nikhil Khajuria" userId="9085ed2a-7f0a-4ddb-a3ab-24be146f43b6" providerId="ADAL" clId="{76175545-97A6-4354-AD1D-4F67FA009ECE}" dt="2026-07-03T05:59:41.710" v="39"/>
        <pc:sldMkLst>
          <pc:docMk/>
          <pc:sldMk cId="0" sldId="278"/>
        </pc:sldMkLst>
      </pc:sldChg>
      <pc:sldChg chg="add del setBg">
        <pc:chgData name="Nikhil Khajuria" userId="9085ed2a-7f0a-4ddb-a3ab-24be146f43b6" providerId="ADAL" clId="{76175545-97A6-4354-AD1D-4F67FA009ECE}" dt="2026-07-03T05:59:41.710" v="39"/>
        <pc:sldMkLst>
          <pc:docMk/>
          <pc:sldMk cId="0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481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Opening slide: unified macro dashboard combining four institutional data sources.
- Scope: ISM PMI, Industrial Production, Treasury Yields, Jobless Claims — 9,000+ observations spanning 78 years (1948–2026).
- Audience will see how each dataset triangulates the U.S. business cycle and why agreement across all four matters.
- Headline takeaway to set up: all four datasets currently signal expansion; cross-validation hit rate near 90%.
- Frame as institutional-grade terminal view, not a casual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Four-dataset cross-validation: ISM PMI, Industrial Production, Treasury Yields, Jobless Claims — all green for expansion.
- Historical hit rate when all four agree: ~90% over the next 12 months.
- 2s10s has un-inverted; Sahm proxy well below +5% trigger; both pre-recession flags are clear.
- What would change the signal: ISM breaks below 50, Initial Claims above 300K sustained, or 2s10s re-inverts.
- Conviction: high — this is a mid-cycle expansion configuration, not a late-cycle 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Each dataset fills a different angle: sentiment (ISM), hard output (IP), market discounting (yields), labor stress (claims).
- Lead/lag hierarchy: yields lead longest, then ISM New Orders, then Claims, then IP confirms.
- Cross-validation framework: 4/4 agreement has ~90% hit rate; current setup is 4/4 expansion.
- When the ladder drops to 3/4 or 2/4, treat as a warning — not a recession call.
- Current signal pattern matches post-recession recovery, not late-cycle 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Brief intro to Section 1 — ISM Manufacturing PMI.
- Why PMI matters: most-watched leading indicator, simple 50 = breakeven rule.
- Current read: 54.0, 5-month expansion streak, manufacturing in recovery.
- Roadmap: headline trend (20-year zoom) then 6 sub-indices to identify what is driving the composite.
- Lead/lag: New Orders leads, Employment lags, Supplier Delivery flags supply 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- 20-year zoom frames the cycle: GFC trough (2008–09) and COVID trough (2020) are the two deep contractions; current 54.0 is the 5-month expansion streak.
- Six sub-indices show which components drive the headline — New Orders (56.8) leads, Employment (48.6) lags.
- Supplier Delivery at 60.6 = supply chain stress returning; above 60 typically signals capacity tightness.
- Composite vs components divergence: headline expansion despite Employment sub-50 implies the upturn is real but hiring has not yet caught up.
- Forward read: New Orders above 55 for 3+ months typically precedes Employment moving back above 50 within one or two reporting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cue bullets:
 - Section 2 of 5: pivot from ISM survey sentiment to Fed hard data on physical output.
 - Fed G.17 Industrial Production Index covers manufacturing, mining, and utilities — coincident indicator.
 - Coverage: 653 monthly observations, Jan 1972 – May 2026, base 2017 = 100.
 - Headline reading: Total IP at 102.65, up 1.67% YoY — confirms ISM expansion signal.
 - Forward setup: next slide unpacks the 54-year full cycle and the latest YoY snapshot across all 8 sub-indices.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cue bullets:
 - Left chart: 54-year secular uptrend in Total IP — every NBER recession carved a visible trough; COVID was the deepest single-month drop.
 - Right chart: latest YoY across all 8 sub-indices — 7 expanding, only Consumer Goods contracting at −0.20%.
 - Business Equipment leads at +5.66% YoY — capex cycle intact, corroborating ISM New Orders strength.
 - Utilities +3.12% YoY: AI data-center electricity demand is a structural tailwind.
 - Consumer Goods the lone soft spot — goods-to-services rotation continues to weigh on durables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cue bullets:
 - Section 3 of 5: pivots from real economy (ISM + IP) to the bond market's forward discount.
 - Coverage: 3,756 weekly observations across the Treasury curve, 1954 – 2026.
 - Headline read: curve has normalized after the deepest 2s10s inversion since 1981; 10Y at 4.46%.
 - Term premium has flipped positive for the first time since 2019 — a regime shift worth flagging.
 - Forward setup: slide 09 unpacks curve shape + 2s10s; slide 10 covers TIPS real yields and breakeven inflation.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cue bullets:
 - Curve normalization: 2s10s un-inverted to +27 bps after the deepest inversion since 1981 — bear steepening regime.
 - 10Y at 4.46%, up 44 bps YoY — long end repricing both growth and supply (fiscal deficits + QT).
 - 2Y at 4.19%, down 251 bps YoY — front end has priced in Fed cuts even as 10Y backed up.
 - Bear steepening (long end rises faster than short) historically ambiguous — can signal growth or supply/demand stress.
 - Watch for re-inversion: a fresh 2s10s dip below zero would re-arm the recession warning that the current un-inversion disarmed.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cue bullets:
 - Real yields restrictive: 10Y TIPS at +2.21%, up 337 bps from the −1.16% COVID trough in Aug 2021 — financial conditions genuinely tight.
 - 30Y TIPS at 2.72% just printed an all-time high — long-duration real discount rate has rarely been this punishing.
 - Restrictive real rates are slowing the economy less than textbook implies, thanks to AI capex boom and fiscal deficits offsetting the drag.
 - Breakevens above 2% target at every maturity: 5Y 2.43%, 10Y 2.25%, 30Y 2.18% — market prices the Fed missing target on a sustained basis.
 - Combined read: real restrictive + above-target breakevens implies policy stays tight longer; growth slows but doesn't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cue bullets:
 - Section 4 of 5: pivots to the highest-frequency labor market indicator — weekly jobless claims from US DOL.
 - Coverage: 3,102 weekly observations, 1967 – 2026; fastest read on labor market breakage.
 - Headline read: Initial Claims 226K (−8.1% YoY), Continuing Claims 1.81M (−7.0% YoY) — both improving, not deteriorating.
 - Sahm Rule proxy at +1.9% sits well below the +5% recession trigger — no labor-market recession signal.
 - Forward setup: next two slides cover Initial Claims full history + 5Y zoom, then Sahm Rule and recession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- 59-year weekly series frames three regimes: pre-1980 elevated, 1980–2019 stable, post-COVID structurally lower.
- COVID peak of 6.15M (Apr 2020) dwarfs every prior high and remains the dominant outlier on the long chart.
- Current 226K reading is well below the pre-COVID median near 345K — a structural shift lower in claims.
- Latest -8.1% YoY confirms gradual labor market cooling without stress signals.
- Sets up next slide on Sahm Rule + recession thresholds applied to this same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Sahm Rule mechanics: 13-week MA of claims vs prior 52-week low; +5% breach has preceded every U.S. recession since 1970.
- Threshold framework: 250K healthy, 300K warning, 400K recession line — calibrated against NBER cycles since 1990.
- Current reading +1.9% is less than half the trigger; latest 226K is below all three threshold lines.
- No labor-market recession signal in either rule as of June 2026.
- Cross-reference: pair with ISM PMI 54.0 and 2s10s +27 bps for the full no-recession thesis in Section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Section 5 is the synthesis layer — brings ISM, IP, Yields, and Claims together into one macro call.
- Three deliverables: cross-validation across the four datasets, recession-rule check on each, and outlook for H2 2026.
- The 60/20/20 base/bull/bear split is the analyst's own conviction weighting, not a market consensus.
- Next three slides form the cross-reference matrix; final slide is the composite single-message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Cross-dataset validation: ISM PMI is the leading indicator, IP Mfg is the coincident confirmer — both must agree for high-conviction call.
- Lead/lag evidence: PMI bottomed 5 months before IP in the 2008-09 cycle; current 5-month PMI expansion streak projects IP acceleration through Oct 2026.
- Magnitude map is the calibration lens: PMI 50-55 → +1-3% IP Mfg YoY, exactly where we sit at 54.0.
- 12-month forward expansion hit rate when ISM and IP both signal growth: ~85% historically.
- Takeaway: cycle has turned; expect IP Mfg to grind toward +2-3% YoY through H2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Two recession indicators from independent markets: bond market (2s10s) and labor market (Sahm proxy).
- Both currently negative (no signal) — historically rare and high-conviction no-recession read.
- What would change the bond signal: re-inversion of 2s10s, especially if 10Y drops below 2Y by 50+ bps.
- What would change the labor signal: 13W MA of claims rising more than +5% above prior 52W low.
- Time-since-inversion context: 47 months past initial Jul-2022 inversion with no NBER recession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ISM-GDP recession rule: PMI breaking below 48 has preceded every U.S. recession since 1980 within 1-2 quarters — currently 54.0, no signal.
- Magnitude read: PMI 54 maps historically to GDP growth around 2.0-2.5% YoY, in line with 2026 consensus.
- IP-SPX divergence: equities at all-time highs while output is still 4% below the 2014 peak — multiples doing the work.
- Watch list: SPX correction without IP downturn = buy-the-dip; SPX correction WITH IP downturn = recession risk confirmed.
- This slide is the macro-to-equity bridge that sets up the final composite signal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one message: all four datasets — ISM, IP, 2s10s, Initial Claims — agree on expansion. 4/4 alignment.
- When 4/4 agree, historical 12-month forward expansion hit rate is ~90% — high-conviction read.
- ISM 54.0 (5-month streak) + IP +1.67% YoY (7/8 sub-indices) + 2s10s +27 bps (un-inverted) + Claims 226K (-8.1% YoY).
- If audience remembers nothing else from this deck, remember this slide: 4/4 EXPANSION, ~90% hit rate.
- Sets up the risk dashboard (slide 19) and outlook scenarios (slide 20)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• Four risk vectors across the 4 datasets — Manufacturing, Consumer, Yield Curve, Labor.
 • Manufacturing (ISM Employment 48.6) AMBER — 3.6 pts from trigger, 4-month contraction already.
 • Consumer (IP −0.20% YoY) RED — lone soft spot, divergence from capex; watch for spread to Business Equipment.
 • Yield Curve (2s10s +27 bps) AMBER — unprecedented double-inversion risk if Fed pauses and 2Y spikes.
 • Labor Market (Claims 226K) GREEN — 3.1 pts of Sahm cushion; most cushion of all 4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• 60 / 20 / 20 probability framework — base case is broadening expansion, not a boom or bust.
 • Base case requires all 4 datasets to keep signaling expansion; PMI grinds to 55–57.
 • Bull case is AI capex super-cycle — needs New Orders above 60 and IP breaks to new ATHs.
 • Bear case is false dawn — PMI rolls below 50 within 3 months, Sahm trigger fires.
 • 4 triggers to watch: ISM Employment above 50, Consumer Goods IP back to YoY+, 10Y break above 4.8%, Initial Claims sustained above 250K.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• 4-quadrant cross-asset positioning derived from the 4/4 expansion signal.
 • Equities: long cyclicals (Industrials, Materials, Tech Hardware); overweight Utilities on AI capex.
 • Rates: neutral duration at 4.5% 10Y; barbell 2Y + 30Y TIPS; underweight long-duration Treasuries.
 • Commodities: long WTI + industrial metals (copper, aluminum); gold neutral as fiscal hedge.
 • FX: neutral USD; long EM commodity currencies (BRL, ZAR, MXN); short JPY on yield differential.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• One-page cheat sheet — screenshot for a quick 4-dataset macro snapshot.
 • ISM 54.0 expansion (5-mo), IP 102.65 above base (1.67% YoY), 10Y 4.46% range-bound, Claims 226K healthy.
 • Composite signal: 4/4 expansion with ~90% historical hit rate; base case 60% broadening.
 • Watch list: ISM Employment (sub-50), Consumer Goods IP (back to YoY+), 10Y range (4.0–4.8%), Initial Claims (250K ceiling).
 • Two divergences to monitor — ISM Employment 48.6 below breakeven, Consumer Goods IP −0.20% YoY contracting.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• Four official U.S. data sources — ISM, Fed G.17, US Treasury, US DOL — no third-party data.
 • Cross-validation logic: 4/4 expansion = ~90% hit rate; current read is 4/4.
 • Three recession rules monitored: ISM &lt;48 (1–2 qtr lead), 2s10s inversion (6–18 mo lead), Sahm +5% (coincident). None currently triggered.
 • Limitations: different frequencies, historical sample 1970–2026, post-COVID structural shifts may alter cycle dynamics.
 • Methodology transparent and reproducible — every observation is publicly sourced.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 • End of report — recap of the 7-deck deliverable series and Macro Dashboard v2.
 • Release calendar: weekly claims Thursdays, monthly ISM first business day, G.17 mid-month, yields daily.
 • Recommended actions: monitor claims &lt;250K, watch ISM &lt;50, track 10Y 4.0–4.8% range, cross-check IP vs ISM.
 • Build alerts on the 4 triggers from slide 20 — ISM Employment, Consumer Goods IP, 10Y, Initial Claims.
 • Next update cycle: Jul 1 ISM PMI + Thursday weekly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124253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CROSS-DATASET ANALYTICS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8258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64173" y="42863"/>
            <a:ext cx="37530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&lt;LIVE&gt;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83711" y="42863"/>
            <a:ext cx="94598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2026-06-24 11:32 EST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0050" y="1351620"/>
            <a:ext cx="83439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ECONOMIC REPORT // 4-DATASET UNIFIED ANALYSIS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0050" y="1469492"/>
            <a:ext cx="8636000" cy="695578"/>
          </a:xfrm>
          <a:prstGeom prst="rect">
            <a:avLst/>
          </a:prstGeom>
          <a:noFill/>
          <a:ln/>
          <a:effectLst>
            <a:outerShdw blurRad="342900" dist="50800" dir="16200000" algn="bl" rotWithShape="0">
              <a:srgbClr val="FFB454">
                <a:alpha val="18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5072"/>
              </a:lnSpc>
              <a:buNone/>
            </a:pPr>
            <a:r>
              <a:rPr lang="en-US" sz="5175" b="1" kern="0" spc="-145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</a:t>
            </a:r>
            <a:endParaRPr lang="en-US" sz="5175" dirty="0"/>
          </a:p>
        </p:txBody>
      </p:sp>
      <p:sp>
        <p:nvSpPr>
          <p:cNvPr id="15" name="Text 13"/>
          <p:cNvSpPr/>
          <p:nvPr/>
        </p:nvSpPr>
        <p:spPr>
          <a:xfrm>
            <a:off x="400050" y="2270708"/>
            <a:ext cx="571500" cy="21431"/>
          </a:xfrm>
          <a:prstGeom prst="rect">
            <a:avLst/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2449302"/>
            <a:ext cx="6572250" cy="44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1"/>
              </a:lnSpc>
              <a:buNone/>
            </a:pPr>
            <a:r>
              <a:rPr lang="en-US" sz="1125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Chart &amp; Trend Analysis — ISM Manufacturing PMI + Industrial Production + Treasury Yields + Jobless Claims, 1948–2026.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00050" y="2963652"/>
            <a:ext cx="9970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r>
              <a:rPr lang="en-US" sz="800" kern="0" spc="56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4 DATASETS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74056" y="2963652"/>
            <a:ext cx="11839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OBSERVATIONS</a:t>
            </a:r>
            <a:r>
              <a:rPr lang="en-US" sz="800" kern="0" spc="56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9,000+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98527" y="2963652"/>
            <a:ext cx="8101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r>
              <a:rPr lang="en-US" sz="800" kern="0" spc="56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78 YEARS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22067" y="2963652"/>
            <a:ext cx="54218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CADENCE</a:t>
            </a:r>
            <a:r>
              <a:rPr lang="en-US" sz="800" kern="0" spc="56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MONTHLY / WEEKLY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0050" y="3879503"/>
            <a:ext cx="2010966" cy="763935"/>
          </a:xfrm>
          <a:prstGeom prst="roundRect">
            <a:avLst>
              <a:gd name="adj" fmla="val 4987"/>
            </a:avLst>
          </a:prstGeom>
          <a:solidFill>
            <a:srgbClr val="131826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00050" y="3883075"/>
            <a:ext cx="201096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407444" y="3879503"/>
            <a:ext cx="0" cy="763935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00050" y="4639866"/>
            <a:ext cx="201096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0766" y="3879503"/>
            <a:ext cx="0" cy="763935"/>
          </a:xfrm>
          <a:prstGeom prst="line">
            <a:avLst/>
          </a:prstGeom>
          <a:noFill/>
          <a:ln w="21431">
            <a:solidFill>
              <a:srgbClr val="5BD0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5781" y="3986659"/>
            <a:ext cx="173950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8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PMI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5781" y="4125962"/>
            <a:ext cx="1739503" cy="27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08"/>
              </a:lnSpc>
              <a:buNone/>
            </a:pPr>
            <a:r>
              <a:rPr lang="en-US" sz="1913" b="1" kern="0" spc="-38" dirty="0">
                <a:solidFill>
                  <a:srgbClr val="5BD0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54.0</a:t>
            </a:r>
            <a:endParaRPr lang="en-US" sz="1913" dirty="0"/>
          </a:p>
        </p:txBody>
      </p:sp>
      <p:sp>
        <p:nvSpPr>
          <p:cNvPr id="28" name="Text 26"/>
          <p:cNvSpPr/>
          <p:nvPr/>
        </p:nvSpPr>
        <p:spPr>
          <a:xfrm>
            <a:off x="535781" y="4423767"/>
            <a:ext cx="173950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2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+1.3 M/M — EXPANSION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11028" y="3879503"/>
            <a:ext cx="2010966" cy="763935"/>
          </a:xfrm>
          <a:prstGeom prst="roundRect">
            <a:avLst>
              <a:gd name="adj" fmla="val 4987"/>
            </a:avLst>
          </a:prstGeom>
          <a:solidFill>
            <a:srgbClr val="131826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511028" y="3883075"/>
            <a:ext cx="201096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18422" y="3879503"/>
            <a:ext cx="0" cy="763935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11028" y="4639866"/>
            <a:ext cx="201096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21744" y="3879503"/>
            <a:ext cx="0" cy="763935"/>
          </a:xfrm>
          <a:prstGeom prst="line">
            <a:avLst/>
          </a:prstGeom>
          <a:noFill/>
          <a:ln w="21431">
            <a:solidFill>
              <a:srgbClr val="5BD0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46759" y="3986659"/>
            <a:ext cx="173950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8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IP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46759" y="4125962"/>
            <a:ext cx="1739503" cy="27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08"/>
              </a:lnSpc>
              <a:buNone/>
            </a:pPr>
            <a:r>
              <a:rPr lang="en-US" sz="1913" b="1" kern="0" spc="-38" dirty="0">
                <a:solidFill>
                  <a:srgbClr val="5BD0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102.65</a:t>
            </a:r>
            <a:endParaRPr lang="en-US" sz="1913" dirty="0"/>
          </a:p>
        </p:txBody>
      </p:sp>
      <p:sp>
        <p:nvSpPr>
          <p:cNvPr id="36" name="Text 34"/>
          <p:cNvSpPr/>
          <p:nvPr/>
        </p:nvSpPr>
        <p:spPr>
          <a:xfrm>
            <a:off x="2646759" y="4423767"/>
            <a:ext cx="173950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2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+1.67% YOY — GROWTH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22006" y="3879503"/>
            <a:ext cx="2010966" cy="763935"/>
          </a:xfrm>
          <a:prstGeom prst="roundRect">
            <a:avLst>
              <a:gd name="adj" fmla="val 4987"/>
            </a:avLst>
          </a:prstGeom>
          <a:solidFill>
            <a:srgbClr val="131826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22006" y="3883075"/>
            <a:ext cx="201096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629400" y="3879503"/>
            <a:ext cx="0" cy="763935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22006" y="4639866"/>
            <a:ext cx="201096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32722" y="3879503"/>
            <a:ext cx="0" cy="763935"/>
          </a:xfrm>
          <a:prstGeom prst="line">
            <a:avLst/>
          </a:prstGeom>
          <a:noFill/>
          <a:ln w="21431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7738" y="3986659"/>
            <a:ext cx="173950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81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YIELD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57738" y="4125962"/>
            <a:ext cx="1739503" cy="27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08"/>
              </a:lnSpc>
              <a:buNone/>
            </a:pPr>
            <a:r>
              <a:rPr lang="en-US" sz="1913" b="1" kern="0" spc="-38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4.46%</a:t>
            </a:r>
            <a:endParaRPr lang="en-US" sz="1913" dirty="0"/>
          </a:p>
        </p:txBody>
      </p:sp>
      <p:sp>
        <p:nvSpPr>
          <p:cNvPr id="44" name="Text 42"/>
          <p:cNvSpPr/>
          <p:nvPr/>
        </p:nvSpPr>
        <p:spPr>
          <a:xfrm>
            <a:off x="4757738" y="4423767"/>
            <a:ext cx="173950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2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2s10s +27 bps — NORMALIZED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32984" y="3879503"/>
            <a:ext cx="2010966" cy="763935"/>
          </a:xfrm>
          <a:prstGeom prst="roundRect">
            <a:avLst>
              <a:gd name="adj" fmla="val 4987"/>
            </a:avLst>
          </a:prstGeom>
          <a:solidFill>
            <a:srgbClr val="131826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732984" y="3883075"/>
            <a:ext cx="201096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740378" y="3879503"/>
            <a:ext cx="0" cy="763935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732984" y="4639866"/>
            <a:ext cx="201096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743700" y="3879503"/>
            <a:ext cx="0" cy="763935"/>
          </a:xfrm>
          <a:prstGeom prst="line">
            <a:avLst/>
          </a:prstGeom>
          <a:noFill/>
          <a:ln w="21431">
            <a:solidFill>
              <a:srgbClr val="5BD0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868716" y="3986659"/>
            <a:ext cx="173950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8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CLAIMS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68716" y="4125962"/>
            <a:ext cx="1739503" cy="27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08"/>
              </a:lnSpc>
              <a:buNone/>
            </a:pPr>
            <a:r>
              <a:rPr lang="en-US" sz="1913" b="1" kern="0" spc="-38" dirty="0">
                <a:solidFill>
                  <a:srgbClr val="5BD0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226K</a:t>
            </a:r>
            <a:endParaRPr lang="en-US" sz="1913" dirty="0"/>
          </a:p>
        </p:txBody>
      </p:sp>
      <p:sp>
        <p:nvSpPr>
          <p:cNvPr id="52" name="Text 50"/>
          <p:cNvSpPr/>
          <p:nvPr/>
        </p:nvSpPr>
        <p:spPr>
          <a:xfrm>
            <a:off x="6868716" y="4423767"/>
            <a:ext cx="173950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2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-8.1% YoY — HEALTHY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895741" y="4764881"/>
            <a:ext cx="10775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//DASHBOARD V2.0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14300" y="5020270"/>
            <a:ext cx="314514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01 / 24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73735" y="5020270"/>
            <a:ext cx="459231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ISM + FED G.17 + US TREASURY + US DOL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880338" y="5020270"/>
            <a:ext cx="1218324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— INTERNAL USE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9763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0451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80432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02 / 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414779" y="42863"/>
            <a:ext cx="61492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4/4 EXPANSION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0050" y="542925"/>
            <a:ext cx="21431" cy="328613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7219" y="542925"/>
            <a:ext cx="8136731" cy="26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41"/>
              </a:lnSpc>
              <a:buNone/>
            </a:pPr>
            <a:r>
              <a:rPr lang="en-US" sz="1688" b="1" kern="0" spc="-17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Summary — Four-Dataset Cross-Validation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607219" y="832247"/>
            <a:ext cx="8136731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9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four macro indicators agree: U.S. economy in expansion, no recession signal as of Jun 2026. Cross-validation hit rate when all agree: ~90%.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0050" y="1275159"/>
            <a:ext cx="5006318" cy="528749"/>
          </a:xfrm>
          <a:prstGeom prst="roundRect">
            <a:avLst>
              <a:gd name="adj" fmla="val 7206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1278731"/>
            <a:ext cx="5006318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02796" y="1275159"/>
            <a:ext cx="0" cy="528749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0050" y="1800337"/>
            <a:ext cx="5006318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0766" y="1275159"/>
            <a:ext cx="0" cy="528749"/>
          </a:xfrm>
          <a:prstGeom prst="line">
            <a:avLst/>
          </a:prstGeom>
          <a:noFill/>
          <a:ln w="21431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494" y="1367024"/>
            <a:ext cx="105196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658"/>
              </a:lnSpc>
              <a:buNone/>
            </a:pPr>
            <a:r>
              <a:rPr lang="en-US" sz="800" kern="0" spc="6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MANUFACTURING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1494" y="1471947"/>
            <a:ext cx="644165" cy="246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b="1" kern="0" spc="-4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PMI 54.0 — EXPANSION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64469" y="1360884"/>
            <a:ext cx="3820455" cy="35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5-month expansion streak above 50 breakeven.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New Orders at 56.8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leads the cycle. Employment at 48.6 lags. Composite above 50 has historically mapped to ~2.0–2.5% GDP growth.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0050" y="1868202"/>
            <a:ext cx="5006318" cy="719844"/>
          </a:xfrm>
          <a:prstGeom prst="roundRect">
            <a:avLst>
              <a:gd name="adj" fmla="val 5293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00050" y="1871774"/>
            <a:ext cx="5006318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02796" y="1868202"/>
            <a:ext cx="0" cy="719844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0050" y="2584475"/>
            <a:ext cx="5006318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0766" y="1868202"/>
            <a:ext cx="0" cy="719844"/>
          </a:xfrm>
          <a:prstGeom prst="line">
            <a:avLst/>
          </a:prstGeom>
          <a:noFill/>
          <a:ln w="21431">
            <a:solidFill>
              <a:srgbClr val="3F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1494" y="1953927"/>
            <a:ext cx="842963" cy="16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658"/>
              </a:lnSpc>
              <a:buNone/>
            </a:pPr>
            <a:r>
              <a:rPr lang="en-US" sz="800" kern="0" spc="6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INDUSTRIAL PRODUCTION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1494" y="2142344"/>
            <a:ext cx="808806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b="1" kern="0" spc="-4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IP +1.67% YoY — RECOVERING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64469" y="2049475"/>
            <a:ext cx="3820455" cy="452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Total IP at 102.65, above 2017 base.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Business Equipment +5.66%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leads (capex). 7 of 8 sub-indices expanding. Manufacturing IP at 98.64 still 1.4% below 2017 base but recovering.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0050" y="2652340"/>
            <a:ext cx="5006318" cy="636352"/>
          </a:xfrm>
          <a:prstGeom prst="roundRect">
            <a:avLst>
              <a:gd name="adj" fmla="val 5987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00050" y="2655912"/>
            <a:ext cx="5006318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02796" y="2652340"/>
            <a:ext cx="0" cy="636352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00050" y="3285120"/>
            <a:ext cx="5006318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0766" y="2652340"/>
            <a:ext cx="0" cy="636352"/>
          </a:xfrm>
          <a:prstGeom prst="line">
            <a:avLst/>
          </a:prstGeom>
          <a:noFill/>
          <a:ln w="21431">
            <a:solidFill>
              <a:srgbClr val="F5C2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1494" y="2738065"/>
            <a:ext cx="10519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658"/>
              </a:lnSpc>
              <a:buNone/>
            </a:pPr>
            <a:r>
              <a:rPr lang="en-US" sz="800" kern="0" spc="6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TREASURY YIELDS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1494" y="2842989"/>
            <a:ext cx="816732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b="1" kern="0" spc="-4" dirty="0">
                <a:solidFill>
                  <a:srgbClr val="F5C24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2s10s +27 bps — NORMALIZED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464469" y="2791867"/>
            <a:ext cx="3820455" cy="41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Yield curve un-inverted after deepest 2s10s inversion since 1981. 10Y at 4.46% in 4–4.6% range. 10Y breakeven 2.25% above 2% target.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Term premium +83 bps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first sustained positive since 2019.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0050" y="3352986"/>
            <a:ext cx="5006318" cy="756345"/>
          </a:xfrm>
          <a:prstGeom prst="roundRect">
            <a:avLst>
              <a:gd name="adj" fmla="val 5037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00050" y="3356558"/>
            <a:ext cx="5006318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02796" y="3352986"/>
            <a:ext cx="0" cy="756345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00050" y="4105759"/>
            <a:ext cx="5006318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10766" y="3352986"/>
            <a:ext cx="0" cy="756345"/>
          </a:xfrm>
          <a:prstGeom prst="line">
            <a:avLst/>
          </a:prstGeom>
          <a:noFill/>
          <a:ln w="21431">
            <a:solidFill>
              <a:srgbClr val="5BD0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21494" y="3438711"/>
            <a:ext cx="10519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658"/>
              </a:lnSpc>
              <a:buNone/>
            </a:pPr>
            <a:r>
              <a:rPr lang="en-US" sz="800" kern="0" spc="6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JOBLESS CLAIMS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21494" y="3543635"/>
            <a:ext cx="49749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b="1" kern="0" spc="-4" dirty="0">
                <a:solidFill>
                  <a:srgbClr val="5BD0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226K — HEALTHY LABOR MARKET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464469" y="3612059"/>
            <a:ext cx="3820455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Initial Claims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-8.1% YoY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Continuing Claims -7.0% YoY. Sahm Rule proxy at +1.9% — well below +5% trigger. Both series below pre-COVID medians. No labor market recession signal.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506380" y="1275159"/>
            <a:ext cx="1583010" cy="691158"/>
          </a:xfrm>
          <a:prstGeom prst="roundRect">
            <a:avLst>
              <a:gd name="adj" fmla="val 5512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506380" y="1282303"/>
            <a:ext cx="1583010" cy="0"/>
          </a:xfrm>
          <a:prstGeom prst="line">
            <a:avLst/>
          </a:prstGeom>
          <a:noFill/>
          <a:ln w="14288">
            <a:solidFill>
              <a:srgbClr val="5BD0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085819" y="1275159"/>
            <a:ext cx="0" cy="691158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506380" y="1962745"/>
            <a:ext cx="158301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509952" y="1275159"/>
            <a:ext cx="0" cy="691158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613536" y="1375172"/>
            <a:ext cx="1450820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7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 SIGNALING EXPANSION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13536" y="1514475"/>
            <a:ext cx="1368698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-36" dirty="0">
                <a:solidFill>
                  <a:srgbClr val="5BD0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/ 4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613536" y="1771650"/>
            <a:ext cx="136869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UNANIMOUS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160828" y="1275159"/>
            <a:ext cx="1583122" cy="691158"/>
          </a:xfrm>
          <a:prstGeom prst="roundRect">
            <a:avLst>
              <a:gd name="adj" fmla="val 5512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7160828" y="1282303"/>
            <a:ext cx="1583122" cy="0"/>
          </a:xfrm>
          <a:prstGeom prst="line">
            <a:avLst/>
          </a:prstGeom>
          <a:noFill/>
          <a:ln w="14288">
            <a:solidFill>
              <a:srgbClr val="5BD0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740378" y="1275159"/>
            <a:ext cx="0" cy="691158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160828" y="1962745"/>
            <a:ext cx="1583122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164400" y="1275159"/>
            <a:ext cx="0" cy="691158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267984" y="1375172"/>
            <a:ext cx="1368809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7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RECESSION SIGNALS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267984" y="1514475"/>
            <a:ext cx="1368809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-36" dirty="0">
                <a:solidFill>
                  <a:srgbClr val="5BD0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/ 4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7267984" y="1771650"/>
            <a:ext cx="1368809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ALL CLEAR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509952" y="2041327"/>
            <a:ext cx="3230426" cy="2598539"/>
          </a:xfrm>
          <a:prstGeom prst="roundRect">
            <a:avLst>
              <a:gd name="adj" fmla="val 1466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613536" y="2130623"/>
            <a:ext cx="26060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75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CROSS-VALIDATION TABLE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233842" y="2130623"/>
            <a:ext cx="402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75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JUN 2026</a:t>
            </a:r>
            <a:endParaRPr lang="en-US" sz="8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13536" y="2289572"/>
          <a:ext cx="3023257" cy="914400"/>
        </p:xfrm>
        <a:graphic>
          <a:graphicData uri="http://schemas.openxmlformats.org/drawingml/2006/table">
            <a:tbl>
              <a:tblPr/>
              <a:tblGrid>
                <a:gridCol w="9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DATASET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LATEST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SIGNAL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RECESS?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2863" marR="57150" marT="57150" marB="42863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ISM PMI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54.0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EXPANSION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 IP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+1.67% YoY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GROWING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2s10s Spread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+27 bps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NORMALIZED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Initial Claims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226K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HEALTHY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Sahm Rule Proxy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+1.9%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BELOW TRIGGER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10Y Breakeven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2.25%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ABOVE TARGET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6434" marR="57150" marT="57150" marB="46434" anchor="ctr">
                    <a:lnL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" name="Text 65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Shape 66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114300" y="5020270"/>
            <a:ext cx="4869024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ISM + FED G.17 + US TREASURY + US DOL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4997611" y="5020270"/>
            <a:ext cx="3506912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 DESK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8518810" y="5020270"/>
            <a:ext cx="51089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02 / 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6317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20665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96580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03 / 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83711" y="42863"/>
            <a:ext cx="94598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LENSES // 1 SIGNAL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0050" y="542925"/>
            <a:ext cx="21431" cy="328613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2931" y="542925"/>
            <a:ext cx="3914775" cy="508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41"/>
              </a:lnSpc>
              <a:buNone/>
            </a:pPr>
            <a:r>
              <a:rPr lang="en-US" sz="1688" b="1" kern="0" spc="-17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Methodology — Four Complementary Lenses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592931" y="1078706"/>
            <a:ext cx="391477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9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dataset captures a different angle of the macro economy. Together they triangulate the cycle with high confidence.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0050" y="1507331"/>
            <a:ext cx="4107656" cy="828787"/>
          </a:xfrm>
          <a:prstGeom prst="roundRect">
            <a:avLst>
              <a:gd name="adj" fmla="val 4597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1510903"/>
            <a:ext cx="410765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04134" y="1507331"/>
            <a:ext cx="0" cy="828787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0050" y="2332546"/>
            <a:ext cx="410765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0766" y="1507331"/>
            <a:ext cx="0" cy="828787"/>
          </a:xfrm>
          <a:prstGeom prst="line">
            <a:avLst/>
          </a:prstGeom>
          <a:noFill/>
          <a:ln w="21431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0778" y="1589484"/>
            <a:ext cx="264319" cy="264319"/>
          </a:xfrm>
          <a:prstGeom prst="roundRect">
            <a:avLst>
              <a:gd name="adj" fmla="val 14414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8995" y="160770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FB45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3" name="Text 21"/>
          <p:cNvSpPr/>
          <p:nvPr/>
        </p:nvSpPr>
        <p:spPr>
          <a:xfrm>
            <a:off x="2306762" y="1589484"/>
            <a:ext cx="381521" cy="126802"/>
          </a:xfrm>
          <a:prstGeom prst="roundRect">
            <a:avLst>
              <a:gd name="adj" fmla="val 15023"/>
            </a:avLst>
          </a:prstGeom>
          <a:solidFill>
            <a:srgbClr val="1A20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64394" y="1593056"/>
            <a:ext cx="1780221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b="1" kern="0" spc="28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ISM MANUFACTURING PMI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91501" y="1581876"/>
            <a:ext cx="412043" cy="142018"/>
          </a:xfrm>
          <a:prstGeom prst="roundRect">
            <a:avLst>
              <a:gd name="adj" fmla="val 13414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306762" y="1589484"/>
            <a:ext cx="381521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17"/>
              </a:lnSpc>
              <a:buNone/>
            </a:pPr>
            <a:r>
              <a:rPr lang="en-US" sz="800" kern="0" spc="29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64394" y="1748433"/>
            <a:ext cx="3536156" cy="37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Monthly survey of ~400 purchasing managers. Diffusion index — above 50 = expanding. </a:t>
            </a:r>
            <a:r>
              <a:rPr lang="en-US" sz="800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Leading indicator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(1–3 months ahead of IP). Captures sentiment + direction.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64394" y="2148594"/>
            <a:ext cx="474610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941</a:t>
            </a:r>
            <a:r>
              <a:rPr lang="en-US" sz="800" kern="0" spc="32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323938" y="2148594"/>
            <a:ext cx="544827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SINCE </a:t>
            </a:r>
            <a:r>
              <a:rPr lang="en-US" sz="800" kern="0" spc="32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1948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73448" y="2148594"/>
            <a:ext cx="2527102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0050" y="2393268"/>
            <a:ext cx="4107656" cy="709687"/>
          </a:xfrm>
          <a:prstGeom prst="roundRect">
            <a:avLst>
              <a:gd name="adj" fmla="val 5369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00050" y="2396840"/>
            <a:ext cx="410765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04134" y="2393268"/>
            <a:ext cx="0" cy="709687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00050" y="3099383"/>
            <a:ext cx="410765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0766" y="2393268"/>
            <a:ext cx="0" cy="709687"/>
          </a:xfrm>
          <a:prstGeom prst="line">
            <a:avLst/>
          </a:prstGeom>
          <a:noFill/>
          <a:ln w="21431">
            <a:solidFill>
              <a:srgbClr val="3F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0778" y="2475421"/>
            <a:ext cx="264319" cy="264319"/>
          </a:xfrm>
          <a:prstGeom prst="roundRect">
            <a:avLst>
              <a:gd name="adj" fmla="val 14414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28995" y="249363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3FD0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8" name="Text 36"/>
          <p:cNvSpPr/>
          <p:nvPr/>
        </p:nvSpPr>
        <p:spPr>
          <a:xfrm>
            <a:off x="2302520" y="2475421"/>
            <a:ext cx="502072" cy="126802"/>
          </a:xfrm>
          <a:prstGeom prst="roundRect">
            <a:avLst>
              <a:gd name="adj" fmla="val 15023"/>
            </a:avLst>
          </a:prstGeom>
          <a:solidFill>
            <a:srgbClr val="1A20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64394" y="2478993"/>
            <a:ext cx="1774770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b="1" kern="0" spc="28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INDUSTRIAL PRODUCTION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282437" y="2467813"/>
            <a:ext cx="542237" cy="142018"/>
          </a:xfrm>
          <a:prstGeom prst="roundRect">
            <a:avLst>
              <a:gd name="adj" fmla="val 13414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302520" y="2475421"/>
            <a:ext cx="502072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17"/>
              </a:lnSpc>
              <a:buNone/>
            </a:pPr>
            <a:r>
              <a:rPr lang="en-US" sz="800" kern="0" spc="29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COINCIDENT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64394" y="2634369"/>
            <a:ext cx="3536156" cy="253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Fed G.17 release. Physical output (kWh, tons, units) indexed to 2017 = 100. </a:t>
            </a:r>
            <a:r>
              <a:rPr lang="en-US" sz="800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Coincident indicator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Captures hard output data + magnitude.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64394" y="2915431"/>
            <a:ext cx="474610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653</a:t>
            </a:r>
            <a:r>
              <a:rPr lang="en-US" sz="800" kern="0" spc="32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OBS.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323938" y="2915431"/>
            <a:ext cx="544827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SINCE </a:t>
            </a:r>
            <a:r>
              <a:rPr lang="en-US" sz="800" kern="0" spc="32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1972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873448" y="2915431"/>
            <a:ext cx="2527102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0050" y="3160105"/>
            <a:ext cx="4107656" cy="828787"/>
          </a:xfrm>
          <a:prstGeom prst="roundRect">
            <a:avLst>
              <a:gd name="adj" fmla="val 4597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00050" y="3163677"/>
            <a:ext cx="410765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04134" y="3160105"/>
            <a:ext cx="0" cy="828787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00050" y="3985320"/>
            <a:ext cx="410765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10766" y="3160105"/>
            <a:ext cx="0" cy="828787"/>
          </a:xfrm>
          <a:prstGeom prst="line">
            <a:avLst/>
          </a:prstGeom>
          <a:noFill/>
          <a:ln w="21431">
            <a:solidFill>
              <a:srgbClr val="F5C2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10778" y="3242258"/>
            <a:ext cx="264319" cy="264319"/>
          </a:xfrm>
          <a:prstGeom prst="roundRect">
            <a:avLst>
              <a:gd name="adj" fmla="val 14414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28995" y="326047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5C24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53" name="Text 51"/>
          <p:cNvSpPr/>
          <p:nvPr/>
        </p:nvSpPr>
        <p:spPr>
          <a:xfrm>
            <a:off x="1885615" y="3242258"/>
            <a:ext cx="622734" cy="126802"/>
          </a:xfrm>
          <a:prstGeom prst="roundRect">
            <a:avLst>
              <a:gd name="adj" fmla="val 15023"/>
            </a:avLst>
          </a:prstGeom>
          <a:solidFill>
            <a:srgbClr val="1A20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64394" y="3245830"/>
            <a:ext cx="1238982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b="1" kern="0" spc="28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TREASURY YIELDS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862755" y="3234650"/>
            <a:ext cx="668454" cy="142018"/>
          </a:xfrm>
          <a:prstGeom prst="roundRect">
            <a:avLst>
              <a:gd name="adj" fmla="val 13414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885615" y="3242258"/>
            <a:ext cx="622734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17"/>
              </a:lnSpc>
              <a:buNone/>
            </a:pPr>
            <a:r>
              <a:rPr lang="en-US" sz="800" kern="0" spc="29" dirty="0">
                <a:solidFill>
                  <a:srgbClr val="F5C24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LEADING 6–18M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64394" y="3401206"/>
            <a:ext cx="3536156" cy="37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 Treasury par yield curve. 12 nominal + 5 TIPS maturities + Fed Funds. Bond market discounting of growth + inflation + policy.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2s10s inversion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leading recession signal.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64394" y="3801368"/>
            <a:ext cx="544692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3,756</a:t>
            </a:r>
            <a:r>
              <a:rPr lang="en-US" sz="800" kern="0" spc="32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OBS.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413793" y="3801368"/>
            <a:ext cx="544827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SINCE </a:t>
            </a:r>
            <a:r>
              <a:rPr lang="en-US" sz="800" kern="0" spc="32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1954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963303" y="3801368"/>
            <a:ext cx="2437247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00050" y="4046041"/>
            <a:ext cx="4107656" cy="828787"/>
          </a:xfrm>
          <a:prstGeom prst="roundRect">
            <a:avLst>
              <a:gd name="adj" fmla="val 4597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400050" y="4049613"/>
            <a:ext cx="410765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04134" y="4046041"/>
            <a:ext cx="0" cy="828787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00050" y="4871256"/>
            <a:ext cx="410765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10766" y="4046041"/>
            <a:ext cx="0" cy="828787"/>
          </a:xfrm>
          <a:prstGeom prst="line">
            <a:avLst/>
          </a:prstGeom>
          <a:noFill/>
          <a:ln w="21431">
            <a:solidFill>
              <a:srgbClr val="5BD0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10778" y="4128195"/>
            <a:ext cx="264319" cy="264319"/>
          </a:xfrm>
          <a:prstGeom prst="roundRect">
            <a:avLst>
              <a:gd name="adj" fmla="val 14414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28995" y="414641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5BD0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68" name="Text 66"/>
          <p:cNvSpPr/>
          <p:nvPr/>
        </p:nvSpPr>
        <p:spPr>
          <a:xfrm>
            <a:off x="1800337" y="4128195"/>
            <a:ext cx="703101" cy="126802"/>
          </a:xfrm>
          <a:prstGeom prst="roundRect">
            <a:avLst>
              <a:gd name="adj" fmla="val 15023"/>
            </a:avLst>
          </a:prstGeom>
          <a:solidFill>
            <a:srgbClr val="1A20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64394" y="4131766"/>
            <a:ext cx="1129386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b="1" kern="0" spc="28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JOBLESS CLAIMS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1777477" y="4120586"/>
            <a:ext cx="748821" cy="142018"/>
          </a:xfrm>
          <a:prstGeom prst="roundRect">
            <a:avLst>
              <a:gd name="adj" fmla="val 13414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800337" y="4128195"/>
            <a:ext cx="703101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17"/>
              </a:lnSpc>
              <a:buNone/>
            </a:pPr>
            <a:r>
              <a:rPr lang="en-US" sz="800" kern="0" spc="29" dirty="0">
                <a:solidFill>
                  <a:srgbClr val="5B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HIGH-FREQ LABOR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64394" y="4287143"/>
            <a:ext cx="3536156" cy="37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DOL weekly unemployment insurance filings. Initial (ICSA) + Continuing (CCSA). Highest-frequency labor market indicator. </a:t>
            </a:r>
            <a:r>
              <a:rPr lang="en-US" sz="800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Sahm Rule proxy</a:t>
            </a:r>
            <a:r>
              <a:rPr lang="en-US" sz="800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recession trigger above +5%.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64394" y="4687305"/>
            <a:ext cx="544692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3,102</a:t>
            </a:r>
            <a:r>
              <a:rPr lang="en-US" sz="800" kern="0" spc="32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OBS.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413793" y="4687305"/>
            <a:ext cx="544827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SINCE </a:t>
            </a:r>
            <a:r>
              <a:rPr lang="en-US" sz="800" kern="0" spc="32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1967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963303" y="4687305"/>
            <a:ext cx="2437247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636294" y="542925"/>
            <a:ext cx="4107656" cy="2007394"/>
          </a:xfrm>
          <a:prstGeom prst="roundRect">
            <a:avLst>
              <a:gd name="adj" fmla="val 1898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4636294" y="546497"/>
            <a:ext cx="410765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740378" y="542925"/>
            <a:ext cx="0" cy="2007394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636294" y="2546747"/>
            <a:ext cx="410765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647009" y="542925"/>
            <a:ext cx="0" cy="2007394"/>
          </a:xfrm>
          <a:prstGeom prst="line">
            <a:avLst/>
          </a:prstGeom>
          <a:noFill/>
          <a:ln w="21431">
            <a:solidFill>
              <a:srgbClr val="5BD0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786313" y="67240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5BD0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82" name="Text 80"/>
          <p:cNvSpPr/>
          <p:nvPr/>
        </p:nvSpPr>
        <p:spPr>
          <a:xfrm>
            <a:off x="4986338" y="664369"/>
            <a:ext cx="36218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b="1" kern="0" spc="30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CROSS-VALIDATION FRAMEWORK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786313" y="880467"/>
            <a:ext cx="3821906" cy="769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all 4 datasets agree (current setup: all signaling expansion), historical </a:t>
            </a:r>
            <a:r>
              <a:rPr lang="en-US" sz="800" dirty="0">
                <a:solidFill>
                  <a:srgbClr val="5BD0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12-month forward expansion hit rate is ~90%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When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of 4</a:t>
            </a:r>
            <a:r>
              <a:rPr lang="en-US" sz="800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agree, hit rate is ~75%. When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of 4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agree, signal is mixed / noisy. When only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signals expansion, hit rate drops to ~50% (coin flip).</a:t>
            </a:r>
            <a:endParaRPr lang="en-US" sz="800" dirty="0"/>
          </a:p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5BD0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4 / 4 agreement = high-conviction expansion signal.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775340" y="1668851"/>
            <a:ext cx="221971" cy="152019"/>
          </a:xfrm>
          <a:prstGeom prst="roundRect">
            <a:avLst>
              <a:gd name="adj" fmla="val 12531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4786313" y="1676995"/>
            <a:ext cx="260033" cy="208483"/>
          </a:xfrm>
          <a:prstGeom prst="rect">
            <a:avLst/>
          </a:prstGeom>
          <a:noFill/>
          <a:ln/>
        </p:spPr>
        <p:txBody>
          <a:bodyPr wrap="none" lIns="0" tIns="7144" rIns="0" bIns="7144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4/4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057775" y="1691283"/>
            <a:ext cx="3660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~90%</a:t>
            </a:r>
            <a:r>
              <a:rPr lang="en-US" sz="800" kern="0" spc="23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hit rate — high conviction </a:t>
            </a:r>
            <a:r>
              <a:rPr lang="en-US" sz="800" kern="0" spc="23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(NOW)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775340" y="1847445"/>
            <a:ext cx="221971" cy="152019"/>
          </a:xfrm>
          <a:prstGeom prst="roundRect">
            <a:avLst>
              <a:gd name="adj" fmla="val 12531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4786313" y="1855589"/>
            <a:ext cx="260033" cy="208483"/>
          </a:xfrm>
          <a:prstGeom prst="rect">
            <a:avLst/>
          </a:prstGeom>
          <a:noFill/>
          <a:ln/>
        </p:spPr>
        <p:txBody>
          <a:bodyPr wrap="none" lIns="0" tIns="7144" rIns="0" bIns="7144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3/4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5057775" y="1869877"/>
            <a:ext cx="3660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~75%</a:t>
            </a:r>
            <a:r>
              <a:rPr lang="en-US" sz="800" kern="0" spc="23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hit rate — directional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775340" y="2026039"/>
            <a:ext cx="221971" cy="152019"/>
          </a:xfrm>
          <a:prstGeom prst="roundRect">
            <a:avLst>
              <a:gd name="adj" fmla="val 12531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4786313" y="2034183"/>
            <a:ext cx="260033" cy="208483"/>
          </a:xfrm>
          <a:prstGeom prst="rect">
            <a:avLst/>
          </a:prstGeom>
          <a:noFill/>
          <a:ln/>
        </p:spPr>
        <p:txBody>
          <a:bodyPr wrap="none" lIns="0" tIns="7144" rIns="0" bIns="7144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2/4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057775" y="2048470"/>
            <a:ext cx="3660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</a:t>
            </a:r>
            <a:r>
              <a:rPr lang="en-US" sz="800" kern="0" spc="23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noisy — wait for confirmation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4775340" y="2204633"/>
            <a:ext cx="221971" cy="152019"/>
          </a:xfrm>
          <a:prstGeom prst="roundRect">
            <a:avLst>
              <a:gd name="adj" fmla="val 12531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4786313" y="2212777"/>
            <a:ext cx="260033" cy="208483"/>
          </a:xfrm>
          <a:prstGeom prst="rect">
            <a:avLst/>
          </a:prstGeom>
          <a:noFill/>
          <a:ln/>
        </p:spPr>
        <p:txBody>
          <a:bodyPr wrap="none" lIns="0" tIns="7144" rIns="0" bIns="7144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1/4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5057775" y="2227064"/>
            <a:ext cx="3660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~50%</a:t>
            </a:r>
            <a:r>
              <a:rPr lang="en-US" sz="800" kern="0" spc="23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hit rate — coin-flip, no edge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4636294" y="2636044"/>
            <a:ext cx="4107656" cy="2007394"/>
          </a:xfrm>
          <a:prstGeom prst="roundRect">
            <a:avLst>
              <a:gd name="adj" fmla="val 1898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Shape 95"/>
          <p:cNvSpPr/>
          <p:nvPr/>
        </p:nvSpPr>
        <p:spPr>
          <a:xfrm>
            <a:off x="4636294" y="2639616"/>
            <a:ext cx="410765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740378" y="2636044"/>
            <a:ext cx="0" cy="2007394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636294" y="4639866"/>
            <a:ext cx="410765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4647009" y="2636044"/>
            <a:ext cx="0" cy="2007394"/>
          </a:xfrm>
          <a:prstGeom prst="line">
            <a:avLst/>
          </a:prstGeom>
          <a:noFill/>
          <a:ln w="21431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4786313" y="27655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B45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02" name="Text 100"/>
          <p:cNvSpPr/>
          <p:nvPr/>
        </p:nvSpPr>
        <p:spPr>
          <a:xfrm>
            <a:off x="4986338" y="2757488"/>
            <a:ext cx="36218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b="1" kern="0" spc="30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 / LAG ORDER AT CYCLE TURNS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4786313" y="2973586"/>
            <a:ext cx="382190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Typical sequence at cycle peaks: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(1)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2s10s inverts first (12–18 months ahead),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(2)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ISM New Orders breaks below 50 (3–6 months ahead),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(3)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Initial Claims spike above 300K (1–3 months ahead),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(4)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IP turns negative YoY (coincident with recession start). At cycle troughs, the order reverses.</a:t>
            </a:r>
            <a:endParaRPr lang="en-US" sz="800" dirty="0"/>
          </a:p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FFB4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state: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2s10s has un-inverted, ISM above 50, Claims below 250K, IP positive YoY = </a:t>
            </a:r>
            <a:r>
              <a:rPr lang="en-US" sz="800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post-recession recovery pattern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(or mid-cycle pause).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Shape 103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14300" y="5020270"/>
            <a:ext cx="4869024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ISM + FED G.17 + US TREASURY + US DOL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4997611" y="5020270"/>
            <a:ext cx="3506912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 DESK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8518810" y="5020270"/>
            <a:ext cx="51089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03 / 24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74662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1 / 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1532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91235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04 / 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56650" y="42863"/>
            <a:ext cx="4730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// PMI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1219126"/>
            <a:ext cx="84582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108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01 / 05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433438"/>
            <a:ext cx="8458200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-US" sz="6750" b="1" kern="0" spc="-270" dirty="0">
                <a:solidFill>
                  <a:srgbClr val="FFB454">
                    <a:alpha val="9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0" dirty="0"/>
          </a:p>
        </p:txBody>
      </p:sp>
      <p:sp>
        <p:nvSpPr>
          <p:cNvPr id="15" name="Text 13"/>
          <p:cNvSpPr/>
          <p:nvPr/>
        </p:nvSpPr>
        <p:spPr>
          <a:xfrm>
            <a:off x="685800" y="2390701"/>
            <a:ext cx="845820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ISM PMI Signal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685800" y="2996468"/>
            <a:ext cx="400050" cy="14288"/>
          </a:xfrm>
          <a:prstGeom prst="rect">
            <a:avLst/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5800" y="3167918"/>
            <a:ext cx="2353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32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SURVEY-BASED LEADING INDICATOR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50369" y="3223282"/>
            <a:ext cx="28575" cy="28575"/>
          </a:xfrm>
          <a:prstGeom prst="ellipse">
            <a:avLst/>
          </a:prstGeom>
          <a:solidFill>
            <a:srgbClr val="FFB454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64669" y="3167918"/>
            <a:ext cx="22041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32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941 MONTHLY OBSERVATIONS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93469" y="3223282"/>
            <a:ext cx="28575" cy="28575"/>
          </a:xfrm>
          <a:prstGeom prst="ellipse">
            <a:avLst/>
          </a:prstGeom>
          <a:solidFill>
            <a:srgbClr val="FFB454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07769" y="3167918"/>
            <a:ext cx="3736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32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1948 —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3435809"/>
            <a:ext cx="5143500" cy="573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ISM Manufacturing PMI is the most watched leading indicator. </a:t>
            </a:r>
            <a:r>
              <a:rPr lang="en-US" sz="9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PMI at 54.0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(5-month expansion streak) signals manufacturing recovery. This section covers the headline + 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sub-indices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4770239"/>
            <a:ext cx="8286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75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</a:t>
            </a:r>
            <a:r>
              <a:rPr lang="en-US" sz="800" kern="0" spc="75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54.0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97732" y="4770239"/>
            <a:ext cx="892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75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BREAKEVEN</a:t>
            </a:r>
            <a:r>
              <a:rPr lang="en-US" sz="800" kern="0" spc="75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50.0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60005" y="4770239"/>
            <a:ext cx="7010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75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STREAK</a:t>
            </a:r>
            <a:r>
              <a:rPr lang="en-US" sz="800" kern="0" spc="75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5M ↑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71143" y="4770239"/>
            <a:ext cx="6373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75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r>
              <a:rPr lang="en-US" sz="800" kern="0" spc="75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45103" y="4764881"/>
            <a:ext cx="7692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//SECTION 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4300" y="5020270"/>
            <a:ext cx="4720121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1: ISM MANUFACTURING PMI SIGNAL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8709" y="5020270"/>
            <a:ext cx="3655814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 DESK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18810" y="5020270"/>
            <a:ext cx="51089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04 / 24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120593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PMI + SUB-INDICES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93604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69518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05 / 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21079" y="42863"/>
            <a:ext cx="5003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PMI 54.0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28062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03977" y="42863"/>
            <a:ext cx="42572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B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EXPANSION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0050" y="542925"/>
            <a:ext cx="21431" cy="328613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2931" y="542925"/>
            <a:ext cx="8551069" cy="26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41"/>
              </a:lnSpc>
              <a:buNone/>
            </a:pPr>
            <a:r>
              <a:rPr lang="en-US" sz="1688" b="1" kern="0" spc="-17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ISM PMI — 20-Year Cycle &amp; Six Sub-Indices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592931" y="832247"/>
            <a:ext cx="815101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9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Left: PMI 20-year zoom with GFC and COVID troughs. Right: All six sub-indices side-by-side showing which components drive the headline.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3622" y="1078706"/>
            <a:ext cx="4121944" cy="2816423"/>
          </a:xfrm>
          <a:prstGeom prst="roundRect">
            <a:avLst>
              <a:gd name="adj" fmla="val 1353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7194" y="1082278"/>
            <a:ext cx="4114800" cy="233958"/>
          </a:xfrm>
          <a:prstGeom prst="rect">
            <a:avLst/>
          </a:prstGeom>
          <a:solidFill>
            <a:srgbClr val="1A20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7194" y="1312664"/>
            <a:ext cx="41148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2919" y="1144786"/>
            <a:ext cx="349764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64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PMI 20-YEAR ZOOM — 2005 →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87597" y="1124676"/>
            <a:ext cx="465929" cy="142018"/>
          </a:xfrm>
          <a:prstGeom prst="roundRect">
            <a:avLst>
              <a:gd name="adj" fmla="val 13414"/>
            </a:avLst>
          </a:prstGeom>
          <a:solidFill>
            <a:srgbClr val="0B0F17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04853" y="1132284"/>
            <a:ext cx="4314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17"/>
              </a:lnSpc>
              <a:buNone/>
            </a:pPr>
            <a:r>
              <a:rPr lang="en-US" sz="800" kern="0" spc="38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CHART 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0056" y="1359098"/>
            <a:ext cx="4029075" cy="2489597"/>
          </a:xfrm>
          <a:prstGeom prst="roundRect">
            <a:avLst>
              <a:gd name="adj" fmla="val 1530"/>
            </a:avLst>
          </a:prstGeom>
          <a:solidFill>
            <a:srgbClr val="0B0F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0" descr="/tmp/h2p-fit-1783057792598-1c8u3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" y="1359098"/>
            <a:ext cx="4029075" cy="2489597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618434" y="1078706"/>
            <a:ext cx="4121944" cy="2816423"/>
          </a:xfrm>
          <a:prstGeom prst="roundRect">
            <a:avLst>
              <a:gd name="adj" fmla="val 1353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622006" y="1082278"/>
            <a:ext cx="4114800" cy="233958"/>
          </a:xfrm>
          <a:prstGeom prst="rect">
            <a:avLst/>
          </a:prstGeom>
          <a:solidFill>
            <a:srgbClr val="1A20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622006" y="1312664"/>
            <a:ext cx="41148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707731" y="1144786"/>
            <a:ext cx="349764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64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SUB-INDICES — LATEST SNAPSHOT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202409" y="1124676"/>
            <a:ext cx="465929" cy="142018"/>
          </a:xfrm>
          <a:prstGeom prst="roundRect">
            <a:avLst>
              <a:gd name="adj" fmla="val 13414"/>
            </a:avLst>
          </a:prstGeom>
          <a:solidFill>
            <a:srgbClr val="0B0F17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8219666" y="1132284"/>
            <a:ext cx="4314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17"/>
              </a:lnSpc>
              <a:buNone/>
            </a:pPr>
            <a:r>
              <a:rPr lang="en-US" sz="800" kern="0" spc="38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CHART 03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664869" y="1359098"/>
            <a:ext cx="4029075" cy="2489597"/>
          </a:xfrm>
          <a:prstGeom prst="roundRect">
            <a:avLst>
              <a:gd name="adj" fmla="val 1530"/>
            </a:avLst>
          </a:prstGeom>
          <a:solidFill>
            <a:srgbClr val="0B0F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1" descr="/tmp/h2p-fit-1783057792599-05t9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869" y="1359098"/>
            <a:ext cx="4029075" cy="2489597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00050" y="3984427"/>
            <a:ext cx="2021681" cy="659011"/>
          </a:xfrm>
          <a:prstGeom prst="roundRect">
            <a:avLst>
              <a:gd name="adj" fmla="val 5781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1"/>
          <p:cNvSpPr/>
          <p:nvPr/>
        </p:nvSpPr>
        <p:spPr>
          <a:xfrm>
            <a:off x="400050" y="3987998"/>
            <a:ext cx="2021681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2418159" y="3984427"/>
            <a:ext cx="0" cy="659011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400050" y="4639866"/>
            <a:ext cx="2021681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10766" y="3984427"/>
            <a:ext cx="0" cy="659011"/>
          </a:xfrm>
          <a:prstGeom prst="line">
            <a:avLst/>
          </a:prstGeom>
          <a:noFill/>
          <a:ln w="21431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507206" y="4063008"/>
            <a:ext cx="1807369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7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PMI COMPOSITE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507206" y="4202311"/>
            <a:ext cx="1807369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b="1" kern="0" spc="-32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54.0</a:t>
            </a:r>
            <a:endParaRPr lang="en-US" sz="1575" dirty="0"/>
          </a:p>
        </p:txBody>
      </p:sp>
      <p:sp>
        <p:nvSpPr>
          <p:cNvPr id="41" name="Text 37"/>
          <p:cNvSpPr/>
          <p:nvPr/>
        </p:nvSpPr>
        <p:spPr>
          <a:xfrm>
            <a:off x="507206" y="4455914"/>
            <a:ext cx="1807369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+1.3 M/M — EXPANSION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2507456" y="3984427"/>
            <a:ext cx="2021681" cy="659011"/>
          </a:xfrm>
          <a:prstGeom prst="roundRect">
            <a:avLst>
              <a:gd name="adj" fmla="val 5781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39"/>
          <p:cNvSpPr/>
          <p:nvPr/>
        </p:nvSpPr>
        <p:spPr>
          <a:xfrm>
            <a:off x="2507456" y="3987998"/>
            <a:ext cx="2021681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4525566" y="3984427"/>
            <a:ext cx="0" cy="659011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2507456" y="4639866"/>
            <a:ext cx="2021681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2"/>
          <p:cNvSpPr/>
          <p:nvPr/>
        </p:nvSpPr>
        <p:spPr>
          <a:xfrm>
            <a:off x="2518172" y="3984427"/>
            <a:ext cx="0" cy="659011"/>
          </a:xfrm>
          <a:prstGeom prst="line">
            <a:avLst/>
          </a:prstGeom>
          <a:noFill/>
          <a:ln w="21431">
            <a:solidFill>
              <a:srgbClr val="3F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2614613" y="4063008"/>
            <a:ext cx="1807369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7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ORDERS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2614613" y="4202311"/>
            <a:ext cx="1807369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b="1" kern="0" spc="-32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56.8</a:t>
            </a:r>
            <a:endParaRPr lang="en-US" sz="1575" dirty="0"/>
          </a:p>
        </p:txBody>
      </p:sp>
      <p:sp>
        <p:nvSpPr>
          <p:cNvPr id="49" name="Text 45"/>
          <p:cNvSpPr/>
          <p:nvPr/>
        </p:nvSpPr>
        <p:spPr>
          <a:xfrm>
            <a:off x="2614613" y="4438055"/>
            <a:ext cx="248245" cy="119658"/>
          </a:xfrm>
          <a:prstGeom prst="roundRect">
            <a:avLst>
              <a:gd name="adj" fmla="val 15920"/>
            </a:avLst>
          </a:prstGeom>
          <a:solidFill>
            <a:srgbClr val="1A20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2614613" y="4438055"/>
            <a:ext cx="1807369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9BA3B4"/>
                </a:solidFill>
                <a:highlight>
                  <a:srgbClr val="1A203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</a:t>
            </a:r>
            <a:r>
              <a:rPr lang="en-US" sz="800" kern="0" spc="32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AHEAD OF CYCLE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4614863" y="3984427"/>
            <a:ext cx="2021681" cy="659011"/>
          </a:xfrm>
          <a:prstGeom prst="roundRect">
            <a:avLst>
              <a:gd name="adj" fmla="val 5781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48"/>
          <p:cNvSpPr/>
          <p:nvPr/>
        </p:nvSpPr>
        <p:spPr>
          <a:xfrm>
            <a:off x="4614863" y="3987998"/>
            <a:ext cx="2021681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6632972" y="3984427"/>
            <a:ext cx="0" cy="659011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4614863" y="4639866"/>
            <a:ext cx="2021681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1"/>
          <p:cNvSpPr/>
          <p:nvPr/>
        </p:nvSpPr>
        <p:spPr>
          <a:xfrm>
            <a:off x="4625578" y="3984427"/>
            <a:ext cx="0" cy="659011"/>
          </a:xfrm>
          <a:prstGeom prst="line">
            <a:avLst/>
          </a:prstGeom>
          <a:noFill/>
          <a:ln w="21431">
            <a:solidFill>
              <a:srgbClr val="C8FF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4722019" y="4063008"/>
            <a:ext cx="1807369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7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EMPLOYMENT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4722019" y="4202311"/>
            <a:ext cx="1807369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b="1" kern="0" spc="-32" dirty="0">
                <a:solidFill>
                  <a:srgbClr val="C8FF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48.6</a:t>
            </a:r>
            <a:endParaRPr lang="en-US" sz="1575" dirty="0"/>
          </a:p>
        </p:txBody>
      </p:sp>
      <p:sp>
        <p:nvSpPr>
          <p:cNvPr id="58" name="Text 54"/>
          <p:cNvSpPr/>
          <p:nvPr/>
        </p:nvSpPr>
        <p:spPr>
          <a:xfrm>
            <a:off x="4722019" y="4438055"/>
            <a:ext cx="207615" cy="119658"/>
          </a:xfrm>
          <a:prstGeom prst="roundRect">
            <a:avLst>
              <a:gd name="adj" fmla="val 15920"/>
            </a:avLst>
          </a:prstGeom>
          <a:solidFill>
            <a:srgbClr val="1A20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4722019" y="4438055"/>
            <a:ext cx="1807369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9BA3B4"/>
                </a:solidFill>
                <a:highlight>
                  <a:srgbClr val="1A203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</a:t>
            </a:r>
            <a:r>
              <a:rPr lang="en-US" sz="800" kern="0" spc="32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STILL CONTRACTING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6722269" y="3984427"/>
            <a:ext cx="2021681" cy="659011"/>
          </a:xfrm>
          <a:prstGeom prst="roundRect">
            <a:avLst>
              <a:gd name="adj" fmla="val 5781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7"/>
          <p:cNvSpPr/>
          <p:nvPr/>
        </p:nvSpPr>
        <p:spPr>
          <a:xfrm>
            <a:off x="6722269" y="3987998"/>
            <a:ext cx="2021681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8740378" y="3984427"/>
            <a:ext cx="0" cy="659011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6722269" y="4639866"/>
            <a:ext cx="2021681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0"/>
          <p:cNvSpPr/>
          <p:nvPr/>
        </p:nvSpPr>
        <p:spPr>
          <a:xfrm>
            <a:off x="6732984" y="3984427"/>
            <a:ext cx="0" cy="659011"/>
          </a:xfrm>
          <a:prstGeom prst="line">
            <a:avLst/>
          </a:prstGeom>
          <a:noFill/>
          <a:ln w="21431">
            <a:solidFill>
              <a:srgbClr val="E3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1"/>
          <p:cNvSpPr/>
          <p:nvPr/>
        </p:nvSpPr>
        <p:spPr>
          <a:xfrm>
            <a:off x="6829425" y="4063008"/>
            <a:ext cx="1807369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7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 DELIV.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6829425" y="4202311"/>
            <a:ext cx="1807369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575" b="1" kern="0" spc="-32" dirty="0">
                <a:solidFill>
                  <a:srgbClr val="E36B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60.6</a:t>
            </a:r>
            <a:endParaRPr lang="en-US" sz="1575" dirty="0"/>
          </a:p>
        </p:txBody>
      </p:sp>
      <p:sp>
        <p:nvSpPr>
          <p:cNvPr id="67" name="Text 63"/>
          <p:cNvSpPr/>
          <p:nvPr/>
        </p:nvSpPr>
        <p:spPr>
          <a:xfrm>
            <a:off x="6829425" y="4438055"/>
            <a:ext cx="329505" cy="119658"/>
          </a:xfrm>
          <a:prstGeom prst="roundRect">
            <a:avLst>
              <a:gd name="adj" fmla="val 15920"/>
            </a:avLst>
          </a:prstGeom>
          <a:solidFill>
            <a:srgbClr val="1A20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6829425" y="4438055"/>
            <a:ext cx="1807369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9BA3B4"/>
                </a:solidFill>
                <a:highlight>
                  <a:srgbClr val="1A203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STRESS</a:t>
            </a:r>
            <a:r>
              <a:rPr lang="en-US" sz="800" kern="0" spc="32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SUPPLY CHAIN TIGHT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Shape 66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7"/>
          <p:cNvSpPr/>
          <p:nvPr/>
        </p:nvSpPr>
        <p:spPr>
          <a:xfrm>
            <a:off x="114300" y="5020270"/>
            <a:ext cx="4656274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INSTITUTE FOR SUPPLY MANAGEMENT</a:t>
            </a:r>
            <a:endParaRPr lang="en-US" sz="800" dirty="0"/>
          </a:p>
        </p:txBody>
      </p:sp>
      <p:sp>
        <p:nvSpPr>
          <p:cNvPr id="72" name="Text 68"/>
          <p:cNvSpPr/>
          <p:nvPr/>
        </p:nvSpPr>
        <p:spPr>
          <a:xfrm>
            <a:off x="4784861" y="5020270"/>
            <a:ext cx="3719661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PERIOD: 2005–2026</a:t>
            </a:r>
            <a:endParaRPr lang="en-US" sz="800" dirty="0"/>
          </a:p>
        </p:txBody>
      </p:sp>
      <p:sp>
        <p:nvSpPr>
          <p:cNvPr id="73" name="Text 69"/>
          <p:cNvSpPr/>
          <p:nvPr/>
        </p:nvSpPr>
        <p:spPr>
          <a:xfrm>
            <a:off x="8518810" y="5020270"/>
            <a:ext cx="51089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05 / 24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685800"/>
            <a:ext cx="7144" cy="3771900"/>
          </a:xfrm>
          <a:prstGeom prst="rect">
            <a:avLst/>
          </a:prstGeom>
          <a:solidFill>
            <a:srgbClr val="0B0F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568178"/>
            <a:ext cx="8001000" cy="7144"/>
          </a:xfrm>
          <a:prstGeom prst="rect">
            <a:avLst/>
          </a:prstGeom>
          <a:solidFill>
            <a:srgbClr val="0B0F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861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452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2444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00362" y="42863"/>
            <a:ext cx="74662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2 / 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87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19785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06 / 24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48786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20236" y="42863"/>
            <a:ext cx="70946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DIVIDER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0100" y="3784625"/>
            <a:ext cx="125618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52712" y="3781053"/>
            <a:ext cx="0" cy="232172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0100" y="4009653"/>
            <a:ext cx="125618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7244" y="3781053"/>
            <a:ext cx="0" cy="232172"/>
          </a:xfrm>
          <a:prstGeom prst="line">
            <a:avLst/>
          </a:prstGeom>
          <a:noFill/>
          <a:ln w="14288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42009" y="3784625"/>
            <a:ext cx="1403747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42184" y="3781053"/>
            <a:ext cx="0" cy="232172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142009" y="4009653"/>
            <a:ext cx="1403747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49153" y="3781053"/>
            <a:ext cx="0" cy="232172"/>
          </a:xfrm>
          <a:prstGeom prst="line">
            <a:avLst/>
          </a:prstGeom>
          <a:noFill/>
          <a:ln w="14288">
            <a:solidFill>
              <a:srgbClr val="3F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300" y="5020270"/>
            <a:ext cx="758152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2: INDUSTRIAL PRODUCTION SIGNAL • ANALYTICS DESK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10115" y="5020270"/>
            <a:ext cx="139876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06 / 24 • SECTION DIVIDER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0100" y="1233748"/>
            <a:ext cx="171450" cy="7144"/>
          </a:xfrm>
          <a:prstGeom prst="rect">
            <a:avLst/>
          </a:prstGeom>
          <a:solidFill>
            <a:srgbClr val="3FD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57275" y="1173026"/>
            <a:ext cx="7400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189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02 / 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0100" y="1401626"/>
            <a:ext cx="8343900" cy="925830"/>
          </a:xfrm>
          <a:prstGeom prst="rect">
            <a:avLst/>
          </a:prstGeom>
          <a:noFill/>
          <a:ln/>
          <a:effectLst>
            <a:outerShdw blurRad="361950" dist="50800" dir="16200000" algn="bl" rotWithShape="0">
              <a:srgbClr val="FFB454">
                <a:alpha val="2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-US" sz="6750" b="1" kern="0" spc="-270" dirty="0">
                <a:solidFill>
                  <a:srgbClr val="FFB454">
                    <a:alpha val="9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0" dirty="0"/>
          </a:p>
        </p:txBody>
      </p:sp>
      <p:sp>
        <p:nvSpPr>
          <p:cNvPr id="30" name="Text 28"/>
          <p:cNvSpPr/>
          <p:nvPr/>
        </p:nvSpPr>
        <p:spPr>
          <a:xfrm>
            <a:off x="800100" y="2358889"/>
            <a:ext cx="7658100" cy="45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Industrial Production Signal</a:t>
            </a:r>
            <a:endParaRPr lang="en-US" sz="3150" dirty="0"/>
          </a:p>
        </p:txBody>
      </p:sp>
      <p:sp>
        <p:nvSpPr>
          <p:cNvPr id="31" name="Text 29"/>
          <p:cNvSpPr/>
          <p:nvPr/>
        </p:nvSpPr>
        <p:spPr>
          <a:xfrm>
            <a:off x="800100" y="293608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32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OUTPUT COINCIDENT INDICATOR • 653 MONTHLY OBSERVATIONS • 1972 –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0100" y="3203972"/>
            <a:ext cx="5143500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Fed G.17 measures real output in manufacturing, mining, utilities. Total IP at 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102.65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+1.67% YoY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confirms ISM expansion signal. 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of 8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sub-indices expanding; capex leads.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3768251"/>
            <a:ext cx="1301904" cy="257775"/>
          </a:xfrm>
          <a:prstGeom prst="roundRect">
            <a:avLst>
              <a:gd name="adj" fmla="val 11085"/>
            </a:avLst>
          </a:prstGeom>
          <a:solidFill>
            <a:srgbClr val="FFB454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92969" y="3838203"/>
            <a:ext cx="1514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44773" y="3843561"/>
            <a:ext cx="92578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FULL CYCLE + YOY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42009" y="3781053"/>
            <a:ext cx="1403747" cy="232172"/>
          </a:xfrm>
          <a:prstGeom prst="roundRect">
            <a:avLst>
              <a:gd name="adj" fmla="val 12308"/>
            </a:avLst>
          </a:prstGeom>
          <a:solidFill>
            <a:srgbClr val="3FD0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234878" y="3838203"/>
            <a:ext cx="914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D0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339355" y="3843561"/>
            <a:ext cx="1120676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FED G.17 INDEX 2017=100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3622" y="4813102"/>
            <a:ext cx="50006" cy="50006"/>
          </a:xfrm>
          <a:prstGeom prst="roundRect">
            <a:avLst>
              <a:gd name="adj" fmla="val 19048"/>
            </a:avLst>
          </a:prstGeom>
          <a:solidFill>
            <a:srgbClr val="FFB454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46497" y="4813102"/>
            <a:ext cx="50006" cy="50006"/>
          </a:xfrm>
          <a:prstGeom prst="roundRect">
            <a:avLst>
              <a:gd name="adj" fmla="val 19048"/>
            </a:avLst>
          </a:prstGeom>
          <a:noFill/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9372" y="4813102"/>
            <a:ext cx="50006" cy="50006"/>
          </a:xfrm>
          <a:prstGeom prst="roundRect">
            <a:avLst>
              <a:gd name="adj" fmla="val 19048"/>
            </a:avLst>
          </a:prstGeom>
          <a:noFill/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32247" y="4813102"/>
            <a:ext cx="50006" cy="50006"/>
          </a:xfrm>
          <a:prstGeom prst="roundRect">
            <a:avLst>
              <a:gd name="adj" fmla="val 19048"/>
            </a:avLst>
          </a:prstGeom>
          <a:noFill/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75122" y="4813102"/>
            <a:ext cx="50006" cy="50006"/>
          </a:xfrm>
          <a:prstGeom prst="roundRect">
            <a:avLst>
              <a:gd name="adj" fmla="val 19048"/>
            </a:avLst>
          </a:prstGeom>
          <a:noFill/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171575" y="4789884"/>
            <a:ext cx="7113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91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 02 / 05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67861" y="4768453"/>
            <a:ext cx="88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//SECTION 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861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452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2444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00362" y="42863"/>
            <a:ext cx="80395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CYCLE + YOY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91085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67000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07 / 24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27182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98632" y="42863"/>
            <a:ext cx="33106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&lt;GO&gt;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0050" y="557213"/>
            <a:ext cx="21431" cy="300038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8644" y="542925"/>
            <a:ext cx="6248437" cy="181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238" b="1" kern="0" spc="-12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Industrial Production — Full Cycle &amp; Latest YoY Snapshot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578644" y="752215"/>
            <a:ext cx="6248437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Left: </a:t>
            </a:r>
            <a:r>
              <a:rPr lang="en-US" sz="8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54-year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full history showing secular uptrend and recession troughs. Right: Current YoY% across all </a:t>
            </a:r>
            <a:r>
              <a:rPr lang="en-US" sz="8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sub-indices — </a:t>
            </a:r>
            <a:r>
              <a:rPr lang="en-US" sz="800" dirty="0">
                <a:solidFill>
                  <a:srgbClr val="5BD0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expanding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00" dirty="0">
                <a:solidFill>
                  <a:srgbClr val="FF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contracting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31870" y="542925"/>
            <a:ext cx="33932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//07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98531" y="710803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98531" y="692944"/>
            <a:ext cx="60830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43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IP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554739" y="710803"/>
            <a:ext cx="71438" cy="71438"/>
          </a:xfrm>
          <a:prstGeom prst="roundRect">
            <a:avLst>
              <a:gd name="adj" fmla="val 26666"/>
            </a:avLst>
          </a:prstGeom>
          <a:solidFill>
            <a:srgbClr val="5BD0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54739" y="692944"/>
            <a:ext cx="66724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43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55149" y="710803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55149" y="692944"/>
            <a:ext cx="7215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43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3622" y="1075692"/>
            <a:ext cx="4121944" cy="2721211"/>
          </a:xfrm>
          <a:prstGeom prst="roundRect">
            <a:avLst>
              <a:gd name="adj" fmla="val 1400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0" descr="/tmp/h2p-fit-1783057793420-eqpct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1136414"/>
            <a:ext cx="4000500" cy="259976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618434" y="1075692"/>
            <a:ext cx="4121944" cy="2721211"/>
          </a:xfrm>
          <a:prstGeom prst="roundRect">
            <a:avLst>
              <a:gd name="adj" fmla="val 1400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1" descr="/tmp/h2p-fit-1783057793432-kb2zn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156" y="1136414"/>
            <a:ext cx="4000500" cy="259976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03622" y="3875484"/>
            <a:ext cx="2025253" cy="764381"/>
          </a:xfrm>
          <a:prstGeom prst="roundRect">
            <a:avLst>
              <a:gd name="adj" fmla="val 7477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21494" y="3964781"/>
            <a:ext cx="1803797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IP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21494" y="4109442"/>
            <a:ext cx="180379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102.65</a:t>
            </a:r>
            <a:endParaRPr lang="en-US" sz="1688" dirty="0"/>
          </a:p>
        </p:txBody>
      </p:sp>
      <p:sp>
        <p:nvSpPr>
          <p:cNvPr id="30" name="Text 26"/>
          <p:cNvSpPr/>
          <p:nvPr/>
        </p:nvSpPr>
        <p:spPr>
          <a:xfrm>
            <a:off x="521494" y="4443413"/>
            <a:ext cx="18037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BD0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+1.67% YOY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2249277" y="3950494"/>
            <a:ext cx="9144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5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507456" y="3875484"/>
            <a:ext cx="2025253" cy="764381"/>
          </a:xfrm>
          <a:prstGeom prst="roundRect">
            <a:avLst>
              <a:gd name="adj" fmla="val 7477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2625328" y="3964781"/>
            <a:ext cx="1803797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EQUIP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2625328" y="4109442"/>
            <a:ext cx="180379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+5.66%</a:t>
            </a:r>
            <a:endParaRPr lang="en-US" sz="1688" dirty="0"/>
          </a:p>
        </p:txBody>
      </p:sp>
      <p:sp>
        <p:nvSpPr>
          <p:cNvPr id="35" name="Text 31"/>
          <p:cNvSpPr/>
          <p:nvPr/>
        </p:nvSpPr>
        <p:spPr>
          <a:xfrm>
            <a:off x="2625328" y="4443413"/>
            <a:ext cx="18037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CAPEX LEADER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353111" y="3950494"/>
            <a:ext cx="9144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5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611291" y="3875484"/>
            <a:ext cx="2025253" cy="764381"/>
          </a:xfrm>
          <a:prstGeom prst="roundRect">
            <a:avLst>
              <a:gd name="adj" fmla="val 7477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729163" y="3964781"/>
            <a:ext cx="1803797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UTILITIES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729163" y="4109442"/>
            <a:ext cx="180379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E36B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+3.12%</a:t>
            </a:r>
            <a:endParaRPr lang="en-US" sz="1688" dirty="0"/>
          </a:p>
        </p:txBody>
      </p:sp>
      <p:sp>
        <p:nvSpPr>
          <p:cNvPr id="40" name="Text 36"/>
          <p:cNvSpPr/>
          <p:nvPr/>
        </p:nvSpPr>
        <p:spPr>
          <a:xfrm>
            <a:off x="4729163" y="4443413"/>
            <a:ext cx="18037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E3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DEMAND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6456945" y="3950494"/>
            <a:ext cx="9144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5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715125" y="3875484"/>
            <a:ext cx="2025253" cy="764381"/>
          </a:xfrm>
          <a:prstGeom prst="roundRect">
            <a:avLst>
              <a:gd name="adj" fmla="val 7477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6832997" y="3964781"/>
            <a:ext cx="1803797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GOODS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6832997" y="4109442"/>
            <a:ext cx="180379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FF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−0.20%</a:t>
            </a:r>
            <a:endParaRPr lang="en-US" sz="1688" dirty="0"/>
          </a:p>
        </p:txBody>
      </p:sp>
      <p:sp>
        <p:nvSpPr>
          <p:cNvPr id="45" name="Text 41"/>
          <p:cNvSpPr/>
          <p:nvPr/>
        </p:nvSpPr>
        <p:spPr>
          <a:xfrm>
            <a:off x="6832997" y="4443413"/>
            <a:ext cx="18037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LONE SOFT SPOT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8560780" y="3950494"/>
            <a:ext cx="9144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5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4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114300" y="5020270"/>
            <a:ext cx="7624056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FEDERAL RESERVE G.17 • 1972–2026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7752643" y="5020270"/>
            <a:ext cx="127705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07 / 24 • IP CYCLE + YOY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478631" y="1122127"/>
            <a:ext cx="2879601" cy="119658"/>
          </a:xfrm>
          <a:prstGeom prst="roundRect">
            <a:avLst>
              <a:gd name="adj" fmla="val 15920"/>
            </a:avLst>
          </a:prstGeom>
          <a:solidFill>
            <a:srgbClr val="0B0F17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478631" y="1122127"/>
            <a:ext cx="3986213" cy="216229"/>
          </a:xfrm>
          <a:prstGeom prst="rect">
            <a:avLst/>
          </a:prstGeom>
          <a:noFill/>
          <a:ln/>
        </p:spPr>
        <p:txBody>
          <a:bodyPr wrap="square" lIns="42863" tIns="14288" rIns="42863" bIns="14288" rtlCol="0" anchor="t"/>
          <a:lstStyle/>
          <a:p>
            <a:pPr marL="0" indent="0" algn="l">
              <a:lnSpc>
                <a:spcPts val="717"/>
              </a:lnSpc>
              <a:buNone/>
            </a:pPr>
            <a:r>
              <a:rPr lang="en-US" sz="800" kern="0" spc="67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CHART 01 • </a:t>
            </a:r>
            <a:r>
              <a:rPr lang="en-US" sz="800" kern="0" spc="67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FULL HISTORY</a:t>
            </a:r>
            <a:r>
              <a:rPr lang="en-US" sz="800" kern="0" spc="67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• MONTHLY 1972–2026 • BASE 2017=100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4693444" y="1122127"/>
            <a:ext cx="2654238" cy="119658"/>
          </a:xfrm>
          <a:prstGeom prst="roundRect">
            <a:avLst>
              <a:gd name="adj" fmla="val 15920"/>
            </a:avLst>
          </a:prstGeom>
          <a:solidFill>
            <a:srgbClr val="0B0F17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4693444" y="1122127"/>
            <a:ext cx="3986213" cy="216229"/>
          </a:xfrm>
          <a:prstGeom prst="rect">
            <a:avLst/>
          </a:prstGeom>
          <a:noFill/>
          <a:ln/>
        </p:spPr>
        <p:txBody>
          <a:bodyPr wrap="square" lIns="42863" tIns="14288" rIns="42863" bIns="14288" rtlCol="0" anchor="t"/>
          <a:lstStyle/>
          <a:p>
            <a:pPr marL="0" indent="0" algn="l">
              <a:lnSpc>
                <a:spcPts val="717"/>
              </a:lnSpc>
              <a:buNone/>
            </a:pPr>
            <a:r>
              <a:rPr lang="en-US" sz="800" kern="0" spc="67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CHART 05 • </a:t>
            </a:r>
            <a:r>
              <a:rPr lang="en-US" sz="800" kern="0" spc="67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LATEST YOY SNAPSHOT</a:t>
            </a:r>
            <a:r>
              <a:rPr lang="en-US" sz="800" kern="0" spc="67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• 8 SUB-INDICES • MAY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685800"/>
            <a:ext cx="7144" cy="3771900"/>
          </a:xfrm>
          <a:prstGeom prst="rect">
            <a:avLst/>
          </a:prstGeom>
          <a:solidFill>
            <a:srgbClr val="0B0F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568178"/>
            <a:ext cx="8001000" cy="7144"/>
          </a:xfrm>
          <a:prstGeom prst="rect">
            <a:avLst/>
          </a:prstGeom>
          <a:solidFill>
            <a:srgbClr val="0B0F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861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452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2444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00362" y="42863"/>
            <a:ext cx="74662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3 / 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87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19785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08 / 24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48786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20236" y="42863"/>
            <a:ext cx="70946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DIVIDER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0100" y="3878945"/>
            <a:ext cx="963848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60376" y="3875373"/>
            <a:ext cx="0" cy="232172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0100" y="4103973"/>
            <a:ext cx="963848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7244" y="3875373"/>
            <a:ext cx="0" cy="232172"/>
          </a:xfrm>
          <a:prstGeom prst="line">
            <a:avLst/>
          </a:prstGeom>
          <a:noFill/>
          <a:ln w="14288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49673" y="3878945"/>
            <a:ext cx="1110072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56173" y="3875373"/>
            <a:ext cx="0" cy="232172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49673" y="4103973"/>
            <a:ext cx="1110072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56817" y="3875373"/>
            <a:ext cx="0" cy="232172"/>
          </a:xfrm>
          <a:prstGeom prst="line">
            <a:avLst/>
          </a:prstGeom>
          <a:noFill/>
          <a:ln w="14288">
            <a:solidFill>
              <a:srgbClr val="3F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300" y="5020270"/>
            <a:ext cx="758152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3: TREASURY YIELDS SIGNAL • ANALYTICS DESK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10115" y="5020270"/>
            <a:ext cx="139876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08 / 24 • SECTION DIVIDER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0100" y="1139540"/>
            <a:ext cx="171450" cy="7144"/>
          </a:xfrm>
          <a:prstGeom prst="rect">
            <a:avLst/>
          </a:prstGeom>
          <a:solidFill>
            <a:srgbClr val="3FD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57275" y="1078818"/>
            <a:ext cx="7400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189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03 / 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0100" y="1307418"/>
            <a:ext cx="8343900" cy="925830"/>
          </a:xfrm>
          <a:prstGeom prst="rect">
            <a:avLst/>
          </a:prstGeom>
          <a:noFill/>
          <a:ln/>
          <a:effectLst>
            <a:outerShdw blurRad="361950" dist="50800" dir="16200000" algn="bl" rotWithShape="0">
              <a:srgbClr val="FFB454">
                <a:alpha val="2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-US" sz="6750" b="1" kern="0" spc="-270" dirty="0">
                <a:solidFill>
                  <a:srgbClr val="FFB454">
                    <a:alpha val="9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0" dirty="0"/>
          </a:p>
        </p:txBody>
      </p:sp>
      <p:sp>
        <p:nvSpPr>
          <p:cNvPr id="30" name="Text 28"/>
          <p:cNvSpPr/>
          <p:nvPr/>
        </p:nvSpPr>
        <p:spPr>
          <a:xfrm>
            <a:off x="800100" y="2264680"/>
            <a:ext cx="8041005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Treasury Yields Signal</a:t>
            </a:r>
            <a:endParaRPr lang="en-US" sz="3150" dirty="0"/>
          </a:p>
        </p:txBody>
      </p:sp>
      <p:sp>
        <p:nvSpPr>
          <p:cNvPr id="31" name="Text 29"/>
          <p:cNvSpPr/>
          <p:nvPr/>
        </p:nvSpPr>
        <p:spPr>
          <a:xfrm>
            <a:off x="800100" y="2841873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32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BOND MARKET DISCOUNTING • 3,756 WEEKLY OBSERVATIONS • 1954 –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0100" y="3109764"/>
            <a:ext cx="5429250" cy="61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Yield curve normalized after deepest 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2s10s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inversion since 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1981</a:t>
            </a:r>
            <a:r>
              <a:rPr lang="en-US" sz="900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 10Y at 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4.46%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Breakevens above 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2%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target. Term premium positive for first time since 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2019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No recession signal — but watch for re-inversion.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3862571"/>
            <a:ext cx="1009568" cy="257775"/>
          </a:xfrm>
          <a:prstGeom prst="roundRect">
            <a:avLst>
              <a:gd name="adj" fmla="val 11085"/>
            </a:avLst>
          </a:prstGeom>
          <a:solidFill>
            <a:srgbClr val="FFB454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92969" y="3932523"/>
            <a:ext cx="1514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44773" y="3937881"/>
            <a:ext cx="63345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CURVE + 2S10S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826813" y="3862571"/>
            <a:ext cx="1155792" cy="257775"/>
          </a:xfrm>
          <a:prstGeom prst="roundRect">
            <a:avLst>
              <a:gd name="adj" fmla="val 11085"/>
            </a:avLst>
          </a:prstGeom>
          <a:solidFill>
            <a:srgbClr val="3FD0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942542" y="3932523"/>
            <a:ext cx="1514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094347" y="3937881"/>
            <a:ext cx="77967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TIPS + BREAKEVEN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3622" y="4813102"/>
            <a:ext cx="50006" cy="50006"/>
          </a:xfrm>
          <a:prstGeom prst="roundRect">
            <a:avLst>
              <a:gd name="adj" fmla="val 19048"/>
            </a:avLst>
          </a:prstGeom>
          <a:solidFill>
            <a:srgbClr val="FFB454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46497" y="4813102"/>
            <a:ext cx="50006" cy="50006"/>
          </a:xfrm>
          <a:prstGeom prst="roundRect">
            <a:avLst>
              <a:gd name="adj" fmla="val 19048"/>
            </a:avLst>
          </a:prstGeom>
          <a:solidFill>
            <a:srgbClr val="FFB454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9372" y="4813102"/>
            <a:ext cx="50006" cy="50006"/>
          </a:xfrm>
          <a:prstGeom prst="roundRect">
            <a:avLst>
              <a:gd name="adj" fmla="val 19048"/>
            </a:avLst>
          </a:prstGeom>
          <a:noFill/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32247" y="4813102"/>
            <a:ext cx="50006" cy="50006"/>
          </a:xfrm>
          <a:prstGeom prst="roundRect">
            <a:avLst>
              <a:gd name="adj" fmla="val 19048"/>
            </a:avLst>
          </a:prstGeom>
          <a:noFill/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75122" y="4813102"/>
            <a:ext cx="50006" cy="50006"/>
          </a:xfrm>
          <a:prstGeom prst="roundRect">
            <a:avLst>
              <a:gd name="adj" fmla="val 19048"/>
            </a:avLst>
          </a:prstGeom>
          <a:noFill/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171575" y="4789884"/>
            <a:ext cx="7113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91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 03 / 05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67861" y="4768453"/>
            <a:ext cx="88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//SECTION 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861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452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2444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00362" y="42863"/>
            <a:ext cx="114860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YIELDS CURVE + 2S10S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74938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50853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09 / 24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852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56650" y="42863"/>
            <a:ext cx="4730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CURVE &lt;GO&gt;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0050" y="557213"/>
            <a:ext cx="21431" cy="300038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8644" y="542925"/>
            <a:ext cx="5649032" cy="181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238" b="1" kern="0" spc="-12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Treasury Yields — Curve Snapshot &amp; 2s10s Inversion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578644" y="752215"/>
            <a:ext cx="5649032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Left: Current yield curve vs </a:t>
            </a:r>
            <a:r>
              <a:rPr lang="en-US" sz="8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1Y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8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5Y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ago. Right: 2s10s spread history — deepest inversion since </a:t>
            </a:r>
            <a:r>
              <a:rPr lang="en-US" sz="8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1981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has un-inverted to </a:t>
            </a:r>
            <a:r>
              <a:rPr lang="en-US" sz="800" dirty="0">
                <a:solidFill>
                  <a:srgbClr val="5BD0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+27 bps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31870" y="542925"/>
            <a:ext cx="33932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//09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203914" y="710803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03914" y="692944"/>
            <a:ext cx="5749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43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35119" y="710803"/>
            <a:ext cx="71438" cy="71438"/>
          </a:xfrm>
          <a:prstGeom prst="roundRect">
            <a:avLst>
              <a:gd name="adj" fmla="val 26666"/>
            </a:avLst>
          </a:prstGeom>
          <a:solidFill>
            <a:srgbClr val="3FD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35119" y="692944"/>
            <a:ext cx="5133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43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1Y AGO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0112" y="710803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0112" y="692944"/>
            <a:ext cx="6985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43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3622" y="951458"/>
            <a:ext cx="4121944" cy="2845445"/>
          </a:xfrm>
          <a:prstGeom prst="roundRect">
            <a:avLst>
              <a:gd name="adj" fmla="val 1339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0" descr="/tmp/h2p-fit-1783057800226-h32v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1012180"/>
            <a:ext cx="4000500" cy="272400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618434" y="951458"/>
            <a:ext cx="4121944" cy="2845445"/>
          </a:xfrm>
          <a:prstGeom prst="roundRect">
            <a:avLst>
              <a:gd name="adj" fmla="val 1339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1" descr="/tmp/h2p-fit-1783057800226-lbv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156" y="1012180"/>
            <a:ext cx="4000500" cy="2724001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03622" y="3875484"/>
            <a:ext cx="2025253" cy="764381"/>
          </a:xfrm>
          <a:prstGeom prst="roundRect">
            <a:avLst>
              <a:gd name="adj" fmla="val 7477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21494" y="3964781"/>
            <a:ext cx="1803797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YIELD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21494" y="4109442"/>
            <a:ext cx="180379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4.46%</a:t>
            </a:r>
            <a:endParaRPr lang="en-US" sz="1688" dirty="0"/>
          </a:p>
        </p:txBody>
      </p:sp>
      <p:sp>
        <p:nvSpPr>
          <p:cNvPr id="30" name="Text 26"/>
          <p:cNvSpPr/>
          <p:nvPr/>
        </p:nvSpPr>
        <p:spPr>
          <a:xfrm>
            <a:off x="521494" y="4443413"/>
            <a:ext cx="18037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BD0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+44 BPS YOY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2249277" y="3950494"/>
            <a:ext cx="9144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5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507456" y="3875484"/>
            <a:ext cx="2025253" cy="764381"/>
          </a:xfrm>
          <a:prstGeom prst="roundRect">
            <a:avLst>
              <a:gd name="adj" fmla="val 7477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2625328" y="3964781"/>
            <a:ext cx="1803797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2Y YIELD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2625328" y="4109442"/>
            <a:ext cx="180379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4.19%</a:t>
            </a:r>
            <a:endParaRPr lang="en-US" sz="1688" dirty="0"/>
          </a:p>
        </p:txBody>
      </p:sp>
      <p:sp>
        <p:nvSpPr>
          <p:cNvPr id="35" name="Text 31"/>
          <p:cNvSpPr/>
          <p:nvPr/>
        </p:nvSpPr>
        <p:spPr>
          <a:xfrm>
            <a:off x="2625328" y="4443413"/>
            <a:ext cx="18037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−251 bps YoY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353111" y="3950494"/>
            <a:ext cx="9144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5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611291" y="3875484"/>
            <a:ext cx="2025253" cy="764381"/>
          </a:xfrm>
          <a:prstGeom prst="roundRect">
            <a:avLst>
              <a:gd name="adj" fmla="val 7477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729163" y="3964781"/>
            <a:ext cx="1803797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2S10S SPREAD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729163" y="4109442"/>
            <a:ext cx="180379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5BD0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+27 bps</a:t>
            </a:r>
            <a:endParaRPr lang="en-US" sz="1688" dirty="0"/>
          </a:p>
        </p:txBody>
      </p:sp>
      <p:sp>
        <p:nvSpPr>
          <p:cNvPr id="40" name="Text 36"/>
          <p:cNvSpPr/>
          <p:nvPr/>
        </p:nvSpPr>
        <p:spPr>
          <a:xfrm>
            <a:off x="4729163" y="4443413"/>
            <a:ext cx="18037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B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UN-INVERTED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6456945" y="3950494"/>
            <a:ext cx="9144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5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715125" y="3875484"/>
            <a:ext cx="2025253" cy="764381"/>
          </a:xfrm>
          <a:prstGeom prst="roundRect">
            <a:avLst>
              <a:gd name="adj" fmla="val 7477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6832997" y="3964781"/>
            <a:ext cx="1803797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BREAKEVEN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6832997" y="4109442"/>
            <a:ext cx="1803797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2.25%</a:t>
            </a:r>
            <a:endParaRPr lang="en-US" sz="1688" dirty="0"/>
          </a:p>
        </p:txBody>
      </p:sp>
      <p:sp>
        <p:nvSpPr>
          <p:cNvPr id="45" name="Text 41"/>
          <p:cNvSpPr/>
          <p:nvPr/>
        </p:nvSpPr>
        <p:spPr>
          <a:xfrm>
            <a:off x="6832997" y="4443413"/>
            <a:ext cx="18037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ABOVE 2% TARGET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8560780" y="3950494"/>
            <a:ext cx="9144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5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4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114300" y="5020270"/>
            <a:ext cx="766669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US TREASURY • WEEKLY 1962–2026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7795282" y="5020270"/>
            <a:ext cx="123441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09 / 24 • CURVE + 2S10S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478631" y="997893"/>
            <a:ext cx="2789411" cy="119658"/>
          </a:xfrm>
          <a:prstGeom prst="roundRect">
            <a:avLst>
              <a:gd name="adj" fmla="val 15920"/>
            </a:avLst>
          </a:prstGeom>
          <a:solidFill>
            <a:srgbClr val="0B0F17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478631" y="997893"/>
            <a:ext cx="3986213" cy="216229"/>
          </a:xfrm>
          <a:prstGeom prst="rect">
            <a:avLst/>
          </a:prstGeom>
          <a:noFill/>
          <a:ln/>
        </p:spPr>
        <p:txBody>
          <a:bodyPr wrap="square" lIns="42863" tIns="14288" rIns="42863" bIns="14288" rtlCol="0" anchor="t"/>
          <a:lstStyle/>
          <a:p>
            <a:pPr marL="0" indent="0" algn="l">
              <a:lnSpc>
                <a:spcPts val="717"/>
              </a:lnSpc>
              <a:buNone/>
            </a:pPr>
            <a:r>
              <a:rPr lang="en-US" sz="800" kern="0" spc="67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CHART 01 • </a:t>
            </a:r>
            <a:r>
              <a:rPr lang="en-US" sz="800" kern="0" spc="67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CURVE SNAPSHOT</a:t>
            </a:r>
            <a:r>
              <a:rPr lang="en-US" sz="800" kern="0" spc="67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• NOW VS 1Y VS 5Y • MAY 2026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4693444" y="997893"/>
            <a:ext cx="2789411" cy="119658"/>
          </a:xfrm>
          <a:prstGeom prst="roundRect">
            <a:avLst>
              <a:gd name="adj" fmla="val 15920"/>
            </a:avLst>
          </a:prstGeom>
          <a:solidFill>
            <a:srgbClr val="0B0F17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4693444" y="997893"/>
            <a:ext cx="3986213" cy="216229"/>
          </a:xfrm>
          <a:prstGeom prst="rect">
            <a:avLst/>
          </a:prstGeom>
          <a:noFill/>
          <a:ln/>
        </p:spPr>
        <p:txBody>
          <a:bodyPr wrap="square" lIns="42863" tIns="14288" rIns="42863" bIns="14288" rtlCol="0" anchor="t"/>
          <a:lstStyle/>
          <a:p>
            <a:pPr marL="0" indent="0" algn="l">
              <a:lnSpc>
                <a:spcPts val="717"/>
              </a:lnSpc>
              <a:buNone/>
            </a:pPr>
            <a:r>
              <a:rPr lang="en-US" sz="800" kern="0" spc="67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CHART 05 • </a:t>
            </a:r>
            <a:r>
              <a:rPr lang="en-US" sz="800" kern="0" spc="67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2S10S SPREAD</a:t>
            </a:r>
            <a:r>
              <a:rPr lang="en-US" sz="800" kern="0" spc="67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• WEEKLY 1962–2026 • RECESSION BANDS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861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452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2444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00362" y="42863"/>
            <a:ext cx="91888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TIPS + BREAKEVEN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88574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061655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10 / 24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32527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03977" y="42863"/>
            <a:ext cx="42572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TIPS &lt;GO&gt;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0050" y="557213"/>
            <a:ext cx="21431" cy="300038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8644" y="542925"/>
            <a:ext cx="6468032" cy="181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1238" b="1" kern="0" spc="-12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TIPS Real Yield &amp; Breakeven Inflation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578644" y="752215"/>
            <a:ext cx="5988918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Left: 10Y TIPS real yield — from </a:t>
            </a:r>
            <a:r>
              <a:rPr lang="en-US" sz="800" dirty="0">
                <a:solidFill>
                  <a:srgbClr val="FF5C5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−1.16%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COVID trough to </a:t>
            </a:r>
            <a:r>
              <a:rPr lang="en-US" sz="800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+2.21%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restrictive. Right: 10Y breakeven inflation — above </a:t>
            </a:r>
            <a:r>
              <a:rPr lang="en-US" sz="8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2%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Fed target at </a:t>
            </a:r>
            <a:r>
              <a:rPr lang="en-US" sz="8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2.25%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31870" y="542925"/>
            <a:ext cx="33932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26200" y="710803"/>
            <a:ext cx="71438" cy="71438"/>
          </a:xfrm>
          <a:prstGeom prst="roundRect">
            <a:avLst>
              <a:gd name="adj" fmla="val 26666"/>
            </a:avLst>
          </a:prstGeom>
          <a:solidFill>
            <a:srgbClr val="3FD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26200" y="692944"/>
            <a:ext cx="6985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43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YIELD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596262" y="710803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96262" y="692944"/>
            <a:ext cx="6985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43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BREAKEVEN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0112" y="710803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5C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0112" y="692944"/>
            <a:ext cx="6985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43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2% TARGET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3622" y="951458"/>
            <a:ext cx="4121944" cy="2602557"/>
          </a:xfrm>
          <a:prstGeom prst="roundRect">
            <a:avLst>
              <a:gd name="adj" fmla="val 1464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0" descr="/tmp/h2p-fit-1783057800211-7op9b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1012180"/>
            <a:ext cx="4000500" cy="248111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618434" y="951458"/>
            <a:ext cx="4121944" cy="2602557"/>
          </a:xfrm>
          <a:prstGeom prst="roundRect">
            <a:avLst>
              <a:gd name="adj" fmla="val 1464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1" descr="/tmp/h2p-fit-1783057800211-6tin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156" y="1012180"/>
            <a:ext cx="4000500" cy="248111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03622" y="3632597"/>
            <a:ext cx="4121944" cy="1007269"/>
          </a:xfrm>
          <a:prstGeom prst="roundRect">
            <a:avLst>
              <a:gd name="adj" fmla="val 5674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27209" y="3726966"/>
            <a:ext cx="1330814" cy="172022"/>
          </a:xfrm>
          <a:prstGeom prst="roundRect">
            <a:avLst>
              <a:gd name="adj" fmla="val 11074"/>
            </a:avLst>
          </a:prstGeom>
          <a:solidFill>
            <a:srgbClr val="3FD0FF">
              <a:alpha val="8000"/>
            </a:srgbClr>
          </a:solidFill>
          <a:ln w="7144">
            <a:solidFill>
              <a:srgbClr val="3FD0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50069" y="3736181"/>
            <a:ext cx="12850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kern="0" spc="91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YIELDS RESTRICTIVE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964000" y="3764756"/>
            <a:ext cx="42940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5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50069" y="3961209"/>
            <a:ext cx="1022728" cy="15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1013" b="1" kern="0" spc="-1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TIPS at</a:t>
            </a:r>
            <a:endParaRPr lang="en-US" sz="1013" dirty="0"/>
          </a:p>
        </p:txBody>
      </p:sp>
      <p:sp>
        <p:nvSpPr>
          <p:cNvPr id="32" name="Text 28"/>
          <p:cNvSpPr/>
          <p:nvPr/>
        </p:nvSpPr>
        <p:spPr>
          <a:xfrm>
            <a:off x="1439689" y="3946922"/>
            <a:ext cx="2953717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kern="0" spc="-25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+2.21%</a:t>
            </a:r>
            <a:endParaRPr lang="en-US" sz="1238" dirty="0"/>
          </a:p>
        </p:txBody>
      </p:sp>
      <p:sp>
        <p:nvSpPr>
          <p:cNvPr id="33" name="Text 29"/>
          <p:cNvSpPr/>
          <p:nvPr/>
        </p:nvSpPr>
        <p:spPr>
          <a:xfrm>
            <a:off x="550069" y="4166146"/>
            <a:ext cx="3843338" cy="37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yields surged </a:t>
            </a:r>
            <a:r>
              <a:rPr lang="en-US" sz="800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337 bps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from COVID trough (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−1.16%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Aug 2021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to current </a:t>
            </a:r>
            <a:r>
              <a:rPr lang="en-US" sz="800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+2.21%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Restrictive real rates are slowing economy — but less than expected given AI capex boom + fiscal deficits. 30Y TIPS at </a:t>
            </a:r>
            <a:r>
              <a:rPr lang="en-US" sz="800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2.72%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just made all-time high.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618434" y="3632597"/>
            <a:ext cx="4121944" cy="1007269"/>
          </a:xfrm>
          <a:prstGeom prst="roundRect">
            <a:avLst>
              <a:gd name="adj" fmla="val 5674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742021" y="3726966"/>
            <a:ext cx="1280584" cy="172022"/>
          </a:xfrm>
          <a:prstGeom prst="roundRect">
            <a:avLst>
              <a:gd name="adj" fmla="val 11074"/>
            </a:avLst>
          </a:prstGeom>
          <a:solidFill>
            <a:srgbClr val="FFB454">
              <a:alpha val="8000"/>
            </a:srgbClr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4764881" y="3736181"/>
            <a:ext cx="123486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kern="0" spc="9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INFLATION ABOVE TARGET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940278" y="3764756"/>
            <a:ext cx="66794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657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764881" y="3961209"/>
            <a:ext cx="1570648" cy="15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</a:pPr>
            <a:r>
              <a:rPr lang="en-US" sz="1013" b="1" kern="0" spc="-1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Breakeven at</a:t>
            </a:r>
            <a:endParaRPr lang="en-US" sz="1013" dirty="0"/>
          </a:p>
        </p:txBody>
      </p:sp>
      <p:sp>
        <p:nvSpPr>
          <p:cNvPr id="39" name="Text 35"/>
          <p:cNvSpPr/>
          <p:nvPr/>
        </p:nvSpPr>
        <p:spPr>
          <a:xfrm>
            <a:off x="6092837" y="3946922"/>
            <a:ext cx="2515381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kern="0" spc="-25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2.25%</a:t>
            </a:r>
            <a:endParaRPr lang="en-US" sz="1238" dirty="0"/>
          </a:p>
        </p:txBody>
      </p:sp>
      <p:sp>
        <p:nvSpPr>
          <p:cNvPr id="40" name="Text 36"/>
          <p:cNvSpPr/>
          <p:nvPr/>
        </p:nvSpPr>
        <p:spPr>
          <a:xfrm>
            <a:off x="4764881" y="4166146"/>
            <a:ext cx="3843338" cy="37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Market-implied inflation expectations above </a:t>
            </a:r>
            <a:r>
              <a:rPr lang="en-US" sz="8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2%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Fed target across all maturities (5Y: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2.43%</a:t>
            </a:r>
            <a:r>
              <a:rPr lang="en-US" sz="800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, 10Y: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2.25%</a:t>
            </a:r>
            <a:r>
              <a:rPr lang="en-US" sz="800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, 30Y: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2.18%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peak of </a:t>
            </a:r>
            <a:r>
              <a:rPr lang="en-US" sz="800" dirty="0">
                <a:solidFill>
                  <a:srgbClr val="E8ECF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3.02%</a:t>
            </a:r>
            <a:r>
              <a:rPr lang="en-US" sz="8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has normalized but risk premium persists. Consistent with fiscal deficits + AI capex demand + deglobalization.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38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114300" y="5020270"/>
            <a:ext cx="753900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US TREASURY (TIPS) • 2003–2026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7667588" y="5020270"/>
            <a:ext cx="1443839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10 / 24 • TIPS + BREAKEVEN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78631" y="997893"/>
            <a:ext cx="2248719" cy="119658"/>
          </a:xfrm>
          <a:prstGeom prst="roundRect">
            <a:avLst>
              <a:gd name="adj" fmla="val 15920"/>
            </a:avLst>
          </a:prstGeom>
          <a:solidFill>
            <a:srgbClr val="0B0F17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478631" y="997893"/>
            <a:ext cx="3993356" cy="216229"/>
          </a:xfrm>
          <a:prstGeom prst="rect">
            <a:avLst/>
          </a:prstGeom>
          <a:noFill/>
          <a:ln/>
        </p:spPr>
        <p:txBody>
          <a:bodyPr wrap="square" lIns="42863" tIns="14288" rIns="42863" bIns="14288" rtlCol="0" anchor="t"/>
          <a:lstStyle/>
          <a:p>
            <a:pPr marL="0" indent="0" algn="l">
              <a:lnSpc>
                <a:spcPts val="717"/>
              </a:lnSpc>
              <a:buNone/>
            </a:pPr>
            <a:r>
              <a:rPr lang="en-US" sz="800" kern="0" spc="67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CHART 10 • </a:t>
            </a:r>
            <a:r>
              <a:rPr lang="en-US" sz="800" kern="0" spc="67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TIPS REAL YIELD</a:t>
            </a:r>
            <a:r>
              <a:rPr lang="en-US" sz="800" kern="0" spc="67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• DAILY 2003–2026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693444" y="997893"/>
            <a:ext cx="2428987" cy="119658"/>
          </a:xfrm>
          <a:prstGeom prst="roundRect">
            <a:avLst>
              <a:gd name="adj" fmla="val 15920"/>
            </a:avLst>
          </a:prstGeom>
          <a:solidFill>
            <a:srgbClr val="0B0F17">
              <a:alpha val="8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4693444" y="997893"/>
            <a:ext cx="3986213" cy="216229"/>
          </a:xfrm>
          <a:prstGeom prst="rect">
            <a:avLst/>
          </a:prstGeom>
          <a:noFill/>
          <a:ln/>
        </p:spPr>
        <p:txBody>
          <a:bodyPr wrap="square" lIns="42863" tIns="14288" rIns="42863" bIns="14288" rtlCol="0" anchor="t"/>
          <a:lstStyle/>
          <a:p>
            <a:pPr marL="0" indent="0" algn="l">
              <a:lnSpc>
                <a:spcPts val="717"/>
              </a:lnSpc>
              <a:buNone/>
            </a:pPr>
            <a:r>
              <a:rPr lang="en-US" sz="800" kern="0" spc="67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CHART 09 • </a:t>
            </a:r>
            <a:r>
              <a:rPr lang="en-US" sz="800" kern="0" spc="67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BREAKEVEN INFLATION</a:t>
            </a:r>
            <a:r>
              <a:rPr lang="en-US" sz="800" kern="0" spc="67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• DAILY 2003–2026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685800"/>
            <a:ext cx="7144" cy="3771900"/>
          </a:xfrm>
          <a:prstGeom prst="rect">
            <a:avLst/>
          </a:prstGeom>
          <a:solidFill>
            <a:srgbClr val="0B0F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568178"/>
            <a:ext cx="8001000" cy="7144"/>
          </a:xfrm>
          <a:prstGeom prst="rect">
            <a:avLst/>
          </a:prstGeom>
          <a:solidFill>
            <a:srgbClr val="0B0F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861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452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2444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00362" y="42863"/>
            <a:ext cx="74662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4 / 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87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19785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11 / 24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48786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20236" y="42863"/>
            <a:ext cx="70946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DIVIDER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0100" y="3878945"/>
            <a:ext cx="1402407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98936" y="3875373"/>
            <a:ext cx="0" cy="232172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0100" y="4103973"/>
            <a:ext cx="1402407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7244" y="3875373"/>
            <a:ext cx="0" cy="232172"/>
          </a:xfrm>
          <a:prstGeom prst="line">
            <a:avLst/>
          </a:prstGeom>
          <a:noFill/>
          <a:ln w="14288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8232" y="3878945"/>
            <a:ext cx="1158739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43399" y="3875373"/>
            <a:ext cx="0" cy="232172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8232" y="4103973"/>
            <a:ext cx="1158739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95376" y="3875373"/>
            <a:ext cx="0" cy="232172"/>
          </a:xfrm>
          <a:prstGeom prst="line">
            <a:avLst/>
          </a:prstGeom>
          <a:noFill/>
          <a:ln w="14288">
            <a:solidFill>
              <a:srgbClr val="3F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300" y="5020270"/>
            <a:ext cx="758152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4: JOBLESS CLAIMS SIGNAL • ANALYTICS DESK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10115" y="5020270"/>
            <a:ext cx="139876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11 / 24 • SECTION DIVIDER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0100" y="1139540"/>
            <a:ext cx="171450" cy="7144"/>
          </a:xfrm>
          <a:prstGeom prst="rect">
            <a:avLst/>
          </a:prstGeom>
          <a:solidFill>
            <a:srgbClr val="3FD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57275" y="1078818"/>
            <a:ext cx="7400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189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04 / 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0100" y="1307418"/>
            <a:ext cx="8343900" cy="925830"/>
          </a:xfrm>
          <a:prstGeom prst="rect">
            <a:avLst/>
          </a:prstGeom>
          <a:noFill/>
          <a:ln/>
          <a:effectLst>
            <a:outerShdw blurRad="361950" dist="50800" dir="16200000" algn="bl" rotWithShape="0">
              <a:srgbClr val="FFB454">
                <a:alpha val="2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-US" sz="6750" b="1" kern="0" spc="-270" dirty="0">
                <a:solidFill>
                  <a:srgbClr val="FFB454">
                    <a:alpha val="9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0" dirty="0"/>
          </a:p>
        </p:txBody>
      </p:sp>
      <p:sp>
        <p:nvSpPr>
          <p:cNvPr id="30" name="Text 28"/>
          <p:cNvSpPr/>
          <p:nvPr/>
        </p:nvSpPr>
        <p:spPr>
          <a:xfrm>
            <a:off x="800100" y="2264680"/>
            <a:ext cx="8041005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7"/>
              </a:lnSpc>
              <a:buNone/>
            </a:pPr>
            <a:r>
              <a:rPr lang="en-US" sz="3150" b="1" kern="0" spc="-63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Jobless Claims Signal</a:t>
            </a:r>
            <a:endParaRPr lang="en-US" sz="3150" dirty="0"/>
          </a:p>
        </p:txBody>
      </p:sp>
      <p:sp>
        <p:nvSpPr>
          <p:cNvPr id="31" name="Text 29"/>
          <p:cNvSpPr/>
          <p:nvPr/>
        </p:nvSpPr>
        <p:spPr>
          <a:xfrm>
            <a:off x="800100" y="2841873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32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HIGHEST-FREQUENCY LABOR INDICATOR • 3,102 WEEKLY OBSERVATIONS • 1967 –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0100" y="3109764"/>
            <a:ext cx="5429250" cy="61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Initial Claims at 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226K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−8.1% YoY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and Continuing Claims at 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1.81M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−7.0% YoY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 Sahm Rule proxy at 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+1.9%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well below </a:t>
            </a:r>
            <a:r>
              <a:rPr lang="en-US" sz="9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+5%</a:t>
            </a:r>
            <a:r>
              <a:rPr lang="en-US" sz="900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recession trigger. Labor market healthy, corroborating ISM/IP expansion.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0100" y="3875373"/>
            <a:ext cx="1402407" cy="232172"/>
          </a:xfrm>
          <a:prstGeom prst="roundRect">
            <a:avLst>
              <a:gd name="adj" fmla="val 12308"/>
            </a:avLst>
          </a:prstGeom>
          <a:solidFill>
            <a:srgbClr val="FFB454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92969" y="3932523"/>
            <a:ext cx="1514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44773" y="3937881"/>
            <a:ext cx="1072009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CLAIMS HISTORY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65372" y="3862571"/>
            <a:ext cx="1204459" cy="257775"/>
          </a:xfrm>
          <a:prstGeom prst="roundRect">
            <a:avLst>
              <a:gd name="adj" fmla="val 11085"/>
            </a:avLst>
          </a:prstGeom>
          <a:solidFill>
            <a:srgbClr val="3FD0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381101" y="3932523"/>
            <a:ext cx="15144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532906" y="3937881"/>
            <a:ext cx="82834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SAHM + THRESHOLDS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3622" y="4813102"/>
            <a:ext cx="50006" cy="50006"/>
          </a:xfrm>
          <a:prstGeom prst="roundRect">
            <a:avLst>
              <a:gd name="adj" fmla="val 19048"/>
            </a:avLst>
          </a:prstGeom>
          <a:solidFill>
            <a:srgbClr val="FFB454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46497" y="4813102"/>
            <a:ext cx="50006" cy="50006"/>
          </a:xfrm>
          <a:prstGeom prst="roundRect">
            <a:avLst>
              <a:gd name="adj" fmla="val 19048"/>
            </a:avLst>
          </a:prstGeom>
          <a:solidFill>
            <a:srgbClr val="FFB454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9372" y="4813102"/>
            <a:ext cx="50006" cy="50006"/>
          </a:xfrm>
          <a:prstGeom prst="roundRect">
            <a:avLst>
              <a:gd name="adj" fmla="val 19048"/>
            </a:avLst>
          </a:prstGeom>
          <a:solidFill>
            <a:srgbClr val="FFB454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32247" y="4813102"/>
            <a:ext cx="50006" cy="50006"/>
          </a:xfrm>
          <a:prstGeom prst="roundRect">
            <a:avLst>
              <a:gd name="adj" fmla="val 19048"/>
            </a:avLst>
          </a:prstGeom>
          <a:noFill/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75122" y="4813102"/>
            <a:ext cx="50006" cy="50006"/>
          </a:xfrm>
          <a:prstGeom prst="roundRect">
            <a:avLst>
              <a:gd name="adj" fmla="val 19048"/>
            </a:avLst>
          </a:prstGeom>
          <a:noFill/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171575" y="4789884"/>
            <a:ext cx="7113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91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 04 / 05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67861" y="4768453"/>
            <a:ext cx="8865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//SECTION 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80395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CLAIMS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62535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38450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3FD0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12 / 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02451" y="42863"/>
            <a:ext cx="8614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• US DOL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840502" y="42863"/>
            <a:ext cx="18919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5BD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0050" y="542925"/>
            <a:ext cx="21431" cy="428625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206" y="542925"/>
            <a:ext cx="6802859" cy="26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41"/>
              </a:lnSpc>
              <a:buNone/>
            </a:pPr>
            <a:r>
              <a:rPr lang="en-US" sz="1688" b="1" kern="0" spc="-17" dirty="0">
                <a:solidFill>
                  <a:srgbClr val="E8ECF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Initial Jobless Claims — Full History &amp; 5-Year Zoom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507206" y="832247"/>
            <a:ext cx="6802859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9" dirty="0">
                <a:solidFill>
                  <a:srgbClr val="9BA3B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Left: 59-year full history with COVID peak of 6.15M. Right: 5-year zoom with YoY% panel showing current improvement.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41727" y="542925"/>
            <a:ext cx="160222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04 // CLAIMS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8799" y="678656"/>
            <a:ext cx="1425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JOBLESS SIGNAL • WEEK 25 /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0050" y="1260872"/>
            <a:ext cx="4125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61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01 // INITIAL CLAIMS — FULL HISTORY 1967–2026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3622" y="1389459"/>
            <a:ext cx="4118372" cy="2239566"/>
          </a:xfrm>
          <a:prstGeom prst="roundRect">
            <a:avLst>
              <a:gd name="adj" fmla="val 1701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0" descr="/tmp/h2p-fit-1783057795649-di3r2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1450181"/>
            <a:ext cx="3996928" cy="211812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618434" y="1260872"/>
            <a:ext cx="4125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61" dirty="0">
                <a:solidFill>
                  <a:srgbClr val="5C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02 // INITIAL CLAIMS — 5-YEAR ZOOM + YOY% PANEL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622006" y="1389459"/>
            <a:ext cx="4118372" cy="2239566"/>
          </a:xfrm>
          <a:prstGeom prst="roundRect">
            <a:avLst>
              <a:gd name="adj" fmla="val 1701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1" descr="/tmp/h2p-fit-1783057795649-0nyi7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728" y="1450181"/>
            <a:ext cx="3996928" cy="211812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00050" y="3732609"/>
            <a:ext cx="2033736" cy="785813"/>
          </a:xfrm>
          <a:prstGeom prst="roundRect">
            <a:avLst>
              <a:gd name="adj" fmla="val 7273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400050" y="3736181"/>
            <a:ext cx="203373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2430214" y="3732609"/>
            <a:ext cx="0" cy="785813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400050" y="4514850"/>
            <a:ext cx="203373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10766" y="3732609"/>
            <a:ext cx="0" cy="785813"/>
          </a:xfrm>
          <a:prstGeom prst="line">
            <a:avLst/>
          </a:prstGeom>
          <a:noFill/>
          <a:ln w="21431">
            <a:solidFill>
              <a:srgbClr val="5BD0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35781" y="3839766"/>
            <a:ext cx="1776561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6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LATEST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35781" y="3993356"/>
            <a:ext cx="1776561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226K</a:t>
            </a:r>
            <a:endParaRPr lang="en-US" sz="2025" dirty="0"/>
          </a:p>
        </p:txBody>
      </p:sp>
      <p:sp>
        <p:nvSpPr>
          <p:cNvPr id="32" name="Text 28"/>
          <p:cNvSpPr/>
          <p:nvPr/>
        </p:nvSpPr>
        <p:spPr>
          <a:xfrm>
            <a:off x="535781" y="4293394"/>
            <a:ext cx="177656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5BD0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-8.1% YoY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503438" y="3732609"/>
            <a:ext cx="2033736" cy="785813"/>
          </a:xfrm>
          <a:prstGeom prst="roundRect">
            <a:avLst>
              <a:gd name="adj" fmla="val 7273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0"/>
          <p:cNvSpPr/>
          <p:nvPr/>
        </p:nvSpPr>
        <p:spPr>
          <a:xfrm>
            <a:off x="2503438" y="3736181"/>
            <a:ext cx="203373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4533602" y="3732609"/>
            <a:ext cx="0" cy="785813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2503438" y="4514850"/>
            <a:ext cx="203373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2514154" y="3732609"/>
            <a:ext cx="0" cy="785813"/>
          </a:xfrm>
          <a:prstGeom prst="line">
            <a:avLst/>
          </a:prstGeom>
          <a:noFill/>
          <a:ln w="21431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2639169" y="3839766"/>
            <a:ext cx="1776561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6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COVID PEAK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2639169" y="3993356"/>
            <a:ext cx="1776561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6.15M</a:t>
            </a:r>
            <a:endParaRPr lang="en-US" sz="2025" dirty="0"/>
          </a:p>
        </p:txBody>
      </p:sp>
      <p:sp>
        <p:nvSpPr>
          <p:cNvPr id="40" name="Text 36"/>
          <p:cNvSpPr/>
          <p:nvPr/>
        </p:nvSpPr>
        <p:spPr>
          <a:xfrm>
            <a:off x="2639169" y="4293394"/>
            <a:ext cx="177656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Apr 2020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4606826" y="3732609"/>
            <a:ext cx="2033736" cy="785813"/>
          </a:xfrm>
          <a:prstGeom prst="roundRect">
            <a:avLst>
              <a:gd name="adj" fmla="val 7273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38"/>
          <p:cNvSpPr/>
          <p:nvPr/>
        </p:nvSpPr>
        <p:spPr>
          <a:xfrm>
            <a:off x="4606826" y="3736181"/>
            <a:ext cx="203373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6636990" y="3732609"/>
            <a:ext cx="0" cy="785813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4606826" y="4514850"/>
            <a:ext cx="203373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4617541" y="3732609"/>
            <a:ext cx="0" cy="785813"/>
          </a:xfrm>
          <a:prstGeom prst="line">
            <a:avLst/>
          </a:prstGeom>
          <a:noFill/>
          <a:ln w="21431">
            <a:solidFill>
              <a:srgbClr val="3F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4742557" y="3839766"/>
            <a:ext cx="1776561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61" dirty="0">
                <a:solidFill>
                  <a:srgbClr val="9BA3B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59Y LOW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742557" y="3993356"/>
            <a:ext cx="1776561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162K</a:t>
            </a:r>
            <a:endParaRPr lang="en-US" sz="2025" dirty="0"/>
          </a:p>
        </p:txBody>
      </p:sp>
      <p:sp>
        <p:nvSpPr>
          <p:cNvPr id="48" name="Text 44"/>
          <p:cNvSpPr/>
          <p:nvPr/>
        </p:nvSpPr>
        <p:spPr>
          <a:xfrm>
            <a:off x="4742557" y="4293394"/>
            <a:ext cx="177656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Nov 1968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6710214" y="3732609"/>
            <a:ext cx="2033736" cy="785813"/>
          </a:xfrm>
          <a:prstGeom prst="roundRect">
            <a:avLst>
              <a:gd name="adj" fmla="val 7273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6"/>
          <p:cNvSpPr/>
          <p:nvPr/>
        </p:nvSpPr>
        <p:spPr>
          <a:xfrm>
            <a:off x="6710214" y="3736181"/>
            <a:ext cx="203373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8740378" y="3732609"/>
            <a:ext cx="0" cy="785813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6710214" y="4514850"/>
            <a:ext cx="2033736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6720929" y="3732609"/>
            <a:ext cx="0" cy="785813"/>
          </a:xfrm>
          <a:prstGeom prst="line">
            <a:avLst/>
          </a:prstGeom>
          <a:noFill/>
          <a:ln w="21431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6845945" y="3839766"/>
            <a:ext cx="1776561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61" dirty="0">
                <a:solidFill>
                  <a:srgbClr val="9BA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POST-COVID MEDIAN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6845945" y="3993356"/>
            <a:ext cx="1776561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b="1" kern="0" spc="-40" dirty="0">
                <a:solidFill>
                  <a:srgbClr val="FFB45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223K</a:t>
            </a:r>
            <a:endParaRPr lang="en-US" sz="2025" dirty="0"/>
          </a:p>
        </p:txBody>
      </p:sp>
      <p:sp>
        <p:nvSpPr>
          <p:cNvPr id="56" name="Text 52"/>
          <p:cNvSpPr/>
          <p:nvPr/>
        </p:nvSpPr>
        <p:spPr>
          <a:xfrm>
            <a:off x="6845945" y="4293394"/>
            <a:ext cx="177656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35% below pre-COVID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Shape 54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5"/>
          <p:cNvSpPr/>
          <p:nvPr/>
        </p:nvSpPr>
        <p:spPr>
          <a:xfrm>
            <a:off x="114300" y="5020270"/>
            <a:ext cx="830516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SOURCE: US DOL • WEEKLY 1967–2026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8433755" y="5020270"/>
            <a:ext cx="59594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5C65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//PAGE 12 / 24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9763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SAHM + THRESHOLDS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10451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80432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13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18599" y="42863"/>
            <a:ext cx="8614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RECESSION WATCH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56650" y="42863"/>
            <a:ext cx="4730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TRIGGER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0050" y="542925"/>
            <a:ext cx="21431" cy="428625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7206" y="542925"/>
            <a:ext cx="7622908" cy="26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8" b="1" i="0" u="none" strike="noStrike" kern="0" cap="none" spc="-17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Sahm Rule Proxy &amp; Recession Threshold Analysis</a:t>
            </a:r>
            <a:endParaRPr kumimoji="0" lang="en-US" sz="16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7206" y="832247"/>
            <a:ext cx="7058248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Left: Sahm Rule proxy (13W MA vs prior 52W low) — current +1.9%, well below +5% trigger. Right: Initial Claims with 250K/300K/400K threshold lines.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51817" y="542925"/>
            <a:ext cx="129213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04 // CLAIMS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32929" y="678656"/>
            <a:ext cx="12110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SAHM RULE • THRESHOLD MAP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0050" y="1260872"/>
            <a:ext cx="44555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07 // SAHM RULE PROXY — 13W MA VS 52W LOW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3622" y="1389459"/>
            <a:ext cx="4118372" cy="1810048"/>
          </a:xfrm>
          <a:prstGeom prst="roundRect">
            <a:avLst>
              <a:gd name="adj" fmla="val 2105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0" descr="/tmp/h2p-fit-1783057805446-bsmb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1450181"/>
            <a:ext cx="3996928" cy="16886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618434" y="1260872"/>
            <a:ext cx="4125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06 // INITIAL CLAIMS — 250K / 300K / 400K THRESHOLDS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622006" y="1389459"/>
            <a:ext cx="4118372" cy="1810048"/>
          </a:xfrm>
          <a:prstGeom prst="roundRect">
            <a:avLst>
              <a:gd name="adj" fmla="val 2105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1" descr="/tmp/h2p-fit-1783057805446-1qzix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728" y="1450181"/>
            <a:ext cx="3996928" cy="168860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00050" y="3303091"/>
            <a:ext cx="4137124" cy="1340346"/>
          </a:xfrm>
          <a:prstGeom prst="roundRect">
            <a:avLst>
              <a:gd name="adj" fmla="val 4264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400050" y="3306663"/>
            <a:ext cx="413712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533602" y="3303091"/>
            <a:ext cx="0" cy="1340346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400050" y="4639866"/>
            <a:ext cx="413712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410766" y="3303091"/>
            <a:ext cx="0" cy="1340346"/>
          </a:xfrm>
          <a:prstGeom prst="line">
            <a:avLst/>
          </a:prstGeom>
          <a:noFill/>
          <a:ln w="21431">
            <a:solidFill>
              <a:srgbClr val="5BD07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514493" y="3401889"/>
            <a:ext cx="574786" cy="156020"/>
          </a:xfrm>
          <a:prstGeom prst="roundRect">
            <a:avLst>
              <a:gd name="adj" fmla="val 12210"/>
            </a:avLst>
          </a:prstGeom>
          <a:solidFill>
            <a:srgbClr val="5BD07D">
              <a:alpha val="12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535781" y="3410248"/>
            <a:ext cx="5322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SAHM RULE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3602794" y="3431679"/>
            <a:ext cx="812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RECESSION TRIGGER +5%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535781" y="3606701"/>
            <a:ext cx="3879949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6" b="1" i="0" u="none" strike="noStrike" kern="0" cap="none" spc="-1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+1.9%</a:t>
            </a:r>
            <a:r>
              <a:rPr kumimoji="0" lang="en-US" sz="956" b="1" i="0" u="none" strike="noStrike" kern="0" cap="none" spc="-1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— NO TRIGGER</a:t>
            </a:r>
            <a:endParaRPr kumimoji="0" lang="en-US" sz="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535781" y="3831729"/>
            <a:ext cx="387994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Sahm Rule proxy at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+1.9%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— well below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recession trigger. 13-week MA of claims 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223K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) is only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1.9% above prior 52-week low (219K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). Has signaled every U.S. recession since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1970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with no false positives. Current reading = no labor market recession signal.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606826" y="3303091"/>
            <a:ext cx="4137124" cy="1340346"/>
          </a:xfrm>
          <a:prstGeom prst="roundRect">
            <a:avLst>
              <a:gd name="adj" fmla="val 4264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4606826" y="3306663"/>
            <a:ext cx="413712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3"/>
          <p:cNvSpPr/>
          <p:nvPr/>
        </p:nvSpPr>
        <p:spPr>
          <a:xfrm>
            <a:off x="8740378" y="3303091"/>
            <a:ext cx="0" cy="1340346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4606826" y="4639866"/>
            <a:ext cx="413712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4617541" y="3303091"/>
            <a:ext cx="0" cy="1340346"/>
          </a:xfrm>
          <a:prstGeom prst="line">
            <a:avLst/>
          </a:prstGeom>
          <a:noFill/>
          <a:ln w="21431">
            <a:solidFill>
              <a:srgbClr val="FFB4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4719697" y="3401889"/>
            <a:ext cx="949293" cy="156020"/>
          </a:xfrm>
          <a:prstGeom prst="roundRect">
            <a:avLst>
              <a:gd name="adj" fmla="val 12210"/>
            </a:avLst>
          </a:prstGeom>
          <a:solidFill>
            <a:srgbClr val="FFB454">
              <a:alpha val="12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4742557" y="3410248"/>
            <a:ext cx="90357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CONTEXT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7809570" y="3431679"/>
            <a:ext cx="812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400K = RECESSION LINE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4742557" y="3606701"/>
            <a:ext cx="3989677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6" b="1" i="0" u="none" strike="noStrike" kern="0" cap="none" spc="-1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226K</a:t>
            </a:r>
            <a:r>
              <a:rPr kumimoji="0" lang="en-US" sz="956" b="1" i="0" u="none" strike="noStrike" kern="0" cap="none" spc="-1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— Below All Thresholds</a:t>
            </a:r>
            <a:endParaRPr kumimoji="0" lang="en-US" sz="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4742557" y="3831729"/>
            <a:ext cx="387994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Initial Claims at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226K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is below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healthy threshold, far below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warning and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400K recession levels. 4-week MA at 223K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confirms trend. Every NBER recession since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1990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saw claims break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400K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 Current reading = healthy labor market.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114300" y="5020270"/>
            <a:ext cx="830516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SOURCE: US DOL • WEEKLY 1990–2026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8433755" y="5020270"/>
            <a:ext cx="59594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//PAGE 13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171812" y="42863"/>
            <a:ext cx="74662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5 / 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91532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091235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14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813253" y="42863"/>
            <a:ext cx="80395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 DESK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603977" y="42863"/>
            <a:ext cx="42572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5800" y="1326282"/>
            <a:ext cx="82164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108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05 / 05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5800" y="1540594"/>
            <a:ext cx="8458200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6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0" b="1" i="0" u="none" strike="noStrike" kern="0" cap="none" spc="-270" normalizeH="0" baseline="0" noProof="0" dirty="0">
                <a:ln>
                  <a:noFill/>
                </a:ln>
                <a:solidFill>
                  <a:srgbClr val="FFB454">
                    <a:alpha val="95000"/>
                  </a:srgbClr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kumimoji="0" lang="en-US" sz="6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85800" y="2526432"/>
            <a:ext cx="685800" cy="14288"/>
          </a:xfrm>
          <a:prstGeom prst="rect">
            <a:avLst/>
          </a:prstGeom>
          <a:solidFill>
            <a:srgbClr val="FFB454">
              <a:alpha val="70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85800" y="2640732"/>
            <a:ext cx="6286500" cy="45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30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50" b="1" i="0" u="none" strike="noStrike" kern="0" cap="none" spc="-63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Cross-Validation &amp; Synthesis</a:t>
            </a:r>
            <a:endParaRPr kumimoji="0" lang="en-US" sz="3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5800" y="3175062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132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4-DATASET CROSS-CHECK • RECESSION RULES • OUTLOOK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85800" y="3471528"/>
            <a:ext cx="5143500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6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Final section synthesizes all four datasets. Cross-validation: 4/4 signal expansion. Recession rules: none triggered. Outlook: 60/20/20 base/bull/bear case for H2 2026.</a:t>
            </a:r>
            <a:endParaRPr kumimoji="0" lang="en-US" sz="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085162" y="4782741"/>
            <a:ext cx="8536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99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//SECTION 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4300" y="5020270"/>
            <a:ext cx="830516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5: CROSS-VALIDATION &amp; SYNTHESIS • ANALYTICS DESK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433755" y="5020270"/>
            <a:ext cx="59594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//PAGE 14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109114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VS IP CROSS-REF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199061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74975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15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45660" y="42863"/>
            <a:ext cx="118848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5 // SYNTHESIS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14779" y="42863"/>
            <a:ext cx="61492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CROSS-DATASET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0050" y="542925"/>
            <a:ext cx="21431" cy="428625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7206" y="542925"/>
            <a:ext cx="7852798" cy="26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8" b="1" i="0" u="none" strike="noStrike" kern="0" cap="none" spc="-17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Cross-Reference — ISM PMI vs IP Manufacturing</a:t>
            </a:r>
            <a:endParaRPr kumimoji="0" lang="en-US" sz="16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7206" y="832247"/>
            <a:ext cx="727111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When ISM PMI breaks above 50, IP Manufacturing typically grows +2-3% YoY within 6 months. Current PMI 54.0 projects IP Mfg growth +2-3% YoY through H2 2026.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10271" y="542925"/>
            <a:ext cx="1033679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DATASETS 1 + 2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13862" y="678656"/>
            <a:ext cx="103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LEADING + COINCIDENT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0050" y="1260872"/>
            <a:ext cx="39998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// ISM PMI — 20Y ZOOM, LEADING INDICATOR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14168" y="1260872"/>
            <a:ext cx="10657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PMI 54.0 ▲ 5-MO STREAK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3622" y="1389459"/>
            <a:ext cx="4943475" cy="3111103"/>
          </a:xfrm>
          <a:prstGeom prst="roundRect">
            <a:avLst>
              <a:gd name="adj" fmla="val 1225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0" descr="/tmp/h2p-fit-1783057806031-mtnd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1450181"/>
            <a:ext cx="4822031" cy="298965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00050" y="4546997"/>
            <a:ext cx="53466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CAPTION: ISM PMI — 20Y zoom, leading indicator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443538" y="1260872"/>
            <a:ext cx="3300413" cy="1081050"/>
          </a:xfrm>
          <a:prstGeom prst="roundRect">
            <a:avLst>
              <a:gd name="adj" fmla="val 5287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443538" y="1264444"/>
            <a:ext cx="3300413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740378" y="1260872"/>
            <a:ext cx="0" cy="108105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443538" y="2338350"/>
            <a:ext cx="3300413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454253" y="1260872"/>
            <a:ext cx="0" cy="1081050"/>
          </a:xfrm>
          <a:prstGeom prst="line">
            <a:avLst/>
          </a:prstGeom>
          <a:noFill/>
          <a:ln w="21431">
            <a:solidFill>
              <a:srgbClr val="5BD07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542121" y="1345382"/>
            <a:ext cx="888571" cy="156020"/>
          </a:xfrm>
          <a:prstGeom prst="roundRect">
            <a:avLst>
              <a:gd name="adj" fmla="val 12210"/>
            </a:avLst>
          </a:prstGeom>
          <a:solidFill>
            <a:srgbClr val="5BD07D">
              <a:alpha val="12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564981" y="1353741"/>
            <a:ext cx="84285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 AGREEMENT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133494" y="1375172"/>
            <a:ext cx="50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HIT RATE ~85%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564981" y="1535906"/>
            <a:ext cx="307181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-8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BOTH SIGNAL EXPANSION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564981" y="1721644"/>
            <a:ext cx="307181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ISM PMI at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54.0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(5-mo expansion) + IP Mfg at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+1.43%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YoY 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98.64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idx). Both confirm manufacturing cycle has turned. Historical 12-month forward expansion hit rate when both agree: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~85%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443538" y="2411574"/>
            <a:ext cx="3300413" cy="1081162"/>
          </a:xfrm>
          <a:prstGeom prst="roundRect">
            <a:avLst>
              <a:gd name="adj" fmla="val 5286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5443538" y="2415146"/>
            <a:ext cx="3300413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8740378" y="2411574"/>
            <a:ext cx="0" cy="1081162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443538" y="3489164"/>
            <a:ext cx="3300413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454253" y="2411574"/>
            <a:ext cx="0" cy="1081162"/>
          </a:xfrm>
          <a:prstGeom prst="line">
            <a:avLst/>
          </a:prstGeom>
          <a:noFill/>
          <a:ln w="21431">
            <a:solidFill>
              <a:srgbClr val="FFB4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546122" y="2496084"/>
            <a:ext cx="509207" cy="156020"/>
          </a:xfrm>
          <a:prstGeom prst="roundRect">
            <a:avLst>
              <a:gd name="adj" fmla="val 12210"/>
            </a:avLst>
          </a:prstGeom>
          <a:solidFill>
            <a:srgbClr val="FFB454">
              <a:alpha val="12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564981" y="2504442"/>
            <a:ext cx="4714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LEAD/LAG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8017408" y="2525874"/>
            <a:ext cx="6193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PMI LEADS 1–3 MO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564981" y="2686608"/>
            <a:ext cx="307181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-8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PMI LEADS IP BY 1-3 MONTHS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564981" y="2872346"/>
            <a:ext cx="307181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ISM PMI bottomed Dec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2008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32.9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), 5 months before IP Mfg bottomed May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2009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80.53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). Current PMI 5-month expansion streak projects IP Mfg acceleration through Oct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443538" y="3562387"/>
            <a:ext cx="3300413" cy="1081050"/>
          </a:xfrm>
          <a:prstGeom prst="roundRect">
            <a:avLst>
              <a:gd name="adj" fmla="val 5287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5443538" y="3565959"/>
            <a:ext cx="3300413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8740378" y="3562387"/>
            <a:ext cx="0" cy="108105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5443538" y="4639866"/>
            <a:ext cx="3300413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5454253" y="3562387"/>
            <a:ext cx="0" cy="1081050"/>
          </a:xfrm>
          <a:prstGeom prst="line">
            <a:avLst/>
          </a:prstGeom>
          <a:noFill/>
          <a:ln w="21431">
            <a:solidFill>
              <a:srgbClr val="3FD0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542121" y="3646898"/>
            <a:ext cx="749268" cy="156020"/>
          </a:xfrm>
          <a:prstGeom prst="roundRect">
            <a:avLst>
              <a:gd name="adj" fmla="val 12210"/>
            </a:avLst>
          </a:prstGeom>
          <a:solidFill>
            <a:srgbClr val="3FD0FF">
              <a:alpha val="12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5564981" y="3655256"/>
            <a:ext cx="70354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MAGNITUDE MAP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7823857" y="3676687"/>
            <a:ext cx="812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PMI 50–55 → +1–3% YoY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564981" y="3837422"/>
            <a:ext cx="307181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-8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PMI LEVEL → IP GROWTH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564981" y="4023159"/>
            <a:ext cx="307181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Historical mapping: PMI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60+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→ IP Mfg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+5-7%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YoY. PMI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55-60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+3-5%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YoY. PMI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50-55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+1-3%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YoY (current). PMI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45-50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-1 to -3%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YoY. PMI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&lt;45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or worse.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114300" y="5020270"/>
            <a:ext cx="830516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ISM + FEDERAL RESERVE G.17 • CROSS-DATASET VALIDATION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8433755" y="5020270"/>
            <a:ext cx="59594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//PAGE 15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91888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YIELDS VS CLAIMS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5719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33105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16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18599" y="42863"/>
            <a:ext cx="8614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RECESSION WATCH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56650" y="42863"/>
            <a:ext cx="4730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TRIGGER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0050" y="542925"/>
            <a:ext cx="21431" cy="428625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7206" y="542925"/>
            <a:ext cx="7460307" cy="26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8" b="1" i="0" u="none" strike="noStrike" kern="0" cap="none" spc="-17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Cross-Reference — Yields vs Claims (Recession Watch)</a:t>
            </a:r>
            <a:endParaRPr kumimoji="0" lang="en-US" sz="16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7206" y="832247"/>
            <a:ext cx="7460307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Two independent recession indicators: 2s10s spread (bond market) and Sahm Rule proxy (labor market). Neither triggered — high confidence no-recession signal.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39992" y="542925"/>
            <a:ext cx="80395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DATASETS 3 + 4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42786" y="678656"/>
            <a:ext cx="8011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BOND + LABOR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0050" y="1260872"/>
            <a:ext cx="4125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// 2S10S SPREAD — BOND MARKET RECESSION SIGNAL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3622" y="1389459"/>
            <a:ext cx="4118372" cy="1810048"/>
          </a:xfrm>
          <a:prstGeom prst="roundRect">
            <a:avLst>
              <a:gd name="adj" fmla="val 2105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0" descr="/tmp/h2p-fit-1783057805304-wxlgb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1450181"/>
            <a:ext cx="3996928" cy="16886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00050" y="3245941"/>
            <a:ext cx="4125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CAPTION: 2s10s Spread — bond market recession signal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618434" y="1260872"/>
            <a:ext cx="4125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// SAHM RULE PROXY — LABOR MARKET RECESSION SIGNAL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622006" y="1389459"/>
            <a:ext cx="4118372" cy="1810048"/>
          </a:xfrm>
          <a:prstGeom prst="roundRect">
            <a:avLst>
              <a:gd name="adj" fmla="val 2105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1" descr="/tmp/h2p-fit-1783057805308-3d8p6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728" y="1450181"/>
            <a:ext cx="3996928" cy="168860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618434" y="3245941"/>
            <a:ext cx="4125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CAPTION: Sahm Rule Proxy — labor market recession signal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00050" y="3361134"/>
            <a:ext cx="4137124" cy="1282303"/>
          </a:xfrm>
          <a:prstGeom prst="roundRect">
            <a:avLst>
              <a:gd name="adj" fmla="val 4457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400050" y="3364706"/>
            <a:ext cx="413712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4533602" y="3361134"/>
            <a:ext cx="0" cy="1282303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400050" y="4639866"/>
            <a:ext cx="413712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410766" y="3361134"/>
            <a:ext cx="0" cy="1282303"/>
          </a:xfrm>
          <a:prstGeom prst="line">
            <a:avLst/>
          </a:prstGeom>
          <a:noFill/>
          <a:ln w="21431">
            <a:solidFill>
              <a:srgbClr val="FFB4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512921" y="3459932"/>
            <a:ext cx="995727" cy="156020"/>
          </a:xfrm>
          <a:prstGeom prst="roundRect">
            <a:avLst>
              <a:gd name="adj" fmla="val 12210"/>
            </a:avLst>
          </a:prstGeom>
          <a:solidFill>
            <a:srgbClr val="FFB454">
              <a:alpha val="12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535781" y="3468291"/>
            <a:ext cx="95000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BOND MARKET SIGNAL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3641527" y="3489722"/>
            <a:ext cx="774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 MO POST-INVERSION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535781" y="3664744"/>
            <a:ext cx="398967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-9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2s10s UN-INVERTED AT </a:t>
            </a:r>
            <a:r>
              <a:rPr kumimoji="0" lang="en-US" sz="900" b="1" i="0" u="none" strike="noStrike" kern="0" cap="none" spc="-9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+27 bps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535781" y="3879056"/>
            <a:ext cx="387994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Bond market recession signal (2s10s inversion) has cleared. Was inverted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months (Jul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– Sep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), deepest since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1981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 Un-inverted Oct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 No recession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months post-un-inversion. Historically, recessions follow within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6-18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months of initial inversion — we're at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months post-initial-inversion with no recession.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4606826" y="3361134"/>
            <a:ext cx="4137124" cy="1282303"/>
          </a:xfrm>
          <a:prstGeom prst="roundRect">
            <a:avLst>
              <a:gd name="adj" fmla="val 4457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4606826" y="3364706"/>
            <a:ext cx="413712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8740378" y="3361134"/>
            <a:ext cx="0" cy="1282303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4606826" y="4639866"/>
            <a:ext cx="413712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4617541" y="3361134"/>
            <a:ext cx="0" cy="1282303"/>
          </a:xfrm>
          <a:prstGeom prst="line">
            <a:avLst/>
          </a:prstGeom>
          <a:noFill/>
          <a:ln w="21431">
            <a:solidFill>
              <a:srgbClr val="5BD07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4719697" y="3459932"/>
            <a:ext cx="1042162" cy="156020"/>
          </a:xfrm>
          <a:prstGeom prst="roundRect">
            <a:avLst>
              <a:gd name="adj" fmla="val 12210"/>
            </a:avLst>
          </a:prstGeom>
          <a:solidFill>
            <a:srgbClr val="5BD07D">
              <a:alpha val="12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4742557" y="3468291"/>
            <a:ext cx="99644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 MARKET SIGNAL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8003121" y="3489722"/>
            <a:ext cx="6193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SAHM TRIGGER +5%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4742557" y="3664744"/>
            <a:ext cx="398967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-9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Sahm Proxy at </a:t>
            </a:r>
            <a:r>
              <a:rPr kumimoji="0" lang="en-US" sz="900" b="1" i="0" u="none" strike="noStrike" kern="0" cap="none" spc="-9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+1.9%</a:t>
            </a:r>
            <a:r>
              <a:rPr kumimoji="0" lang="en-US" sz="900" b="1" i="0" u="none" strike="noStrike" kern="0" cap="none" spc="-9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— NO TRIGGER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4742557" y="3879056"/>
            <a:ext cx="387994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Labor market recession signal (Sahm Rule) not triggered. At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+1.9%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trigger. Has preceded every U.S. recession since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1970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with no false positives. Two independent recession indicators (bonds + labor) both negative = high-confidence no-recession signal as of Jun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4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114300" y="5020270"/>
            <a:ext cx="830516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US TREASURY + US DOL • CROSS-DATASET RECESSION WATCH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8433755" y="5020270"/>
            <a:ext cx="59594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//PAGE 16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6317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CROSS-ASSET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20665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96580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17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98444" y="42863"/>
            <a:ext cx="118848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5 // SYNTHESIS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67564" y="42863"/>
            <a:ext cx="66213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× EQUITY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0050" y="542925"/>
            <a:ext cx="21431" cy="428625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7206" y="542925"/>
            <a:ext cx="7714888" cy="26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8" b="1" i="0" u="none" strike="noStrike" kern="0" cap="none" spc="-17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Cross-Asset — ISM vs GDP &amp; IP vs S&amp;P 500</a:t>
            </a:r>
            <a:endParaRPr kumimoji="0" lang="en-US" sz="16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7206" y="832247"/>
            <a:ext cx="714341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Left: ISM PMI vs Real GDP YoY — the 48-threshold recession rule. Right: Industrial Production vs S&amp;P 500 — long-term correlation and current divergence risk.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55226" y="542925"/>
            <a:ext cx="1188724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CROSS-ASSET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29846" y="678656"/>
            <a:ext cx="1114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× EQUITY × OUTPUT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0050" y="1260872"/>
            <a:ext cx="44555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11 // ISM PMI VS REAL GDP YOY — RECESSION RULE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3622" y="1389459"/>
            <a:ext cx="4118372" cy="1810048"/>
          </a:xfrm>
          <a:prstGeom prst="roundRect">
            <a:avLst>
              <a:gd name="adj" fmla="val 2105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0" descr="/tmp/h2p-fit-1783057805759-squ25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1450181"/>
            <a:ext cx="3996928" cy="16886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618434" y="1260872"/>
            <a:ext cx="44555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13 // INDUSTRIAL PRODUCTION VS S&amp;P 500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622006" y="1389459"/>
            <a:ext cx="4118372" cy="1810048"/>
          </a:xfrm>
          <a:prstGeom prst="roundRect">
            <a:avLst>
              <a:gd name="adj" fmla="val 2105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1" descr="/tmp/h2p-fit-1783057805759-9naok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728" y="1450181"/>
            <a:ext cx="3996928" cy="168860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00050" y="3303091"/>
            <a:ext cx="4137124" cy="1340346"/>
          </a:xfrm>
          <a:prstGeom prst="roundRect">
            <a:avLst>
              <a:gd name="adj" fmla="val 4264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400050" y="3306663"/>
            <a:ext cx="413712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533602" y="3303091"/>
            <a:ext cx="0" cy="1340346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400050" y="4639866"/>
            <a:ext cx="413712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410766" y="3303091"/>
            <a:ext cx="0" cy="1340346"/>
          </a:xfrm>
          <a:prstGeom prst="line">
            <a:avLst/>
          </a:prstGeom>
          <a:noFill/>
          <a:ln w="21431">
            <a:solidFill>
              <a:srgbClr val="5BD07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512921" y="3401889"/>
            <a:ext cx="809990" cy="156020"/>
          </a:xfrm>
          <a:prstGeom prst="roundRect">
            <a:avLst>
              <a:gd name="adj" fmla="val 12210"/>
            </a:avLst>
          </a:prstGeom>
          <a:solidFill>
            <a:srgbClr val="5BD07D">
              <a:alpha val="12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535781" y="3410248"/>
            <a:ext cx="76427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RECESSION RULE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3564062" y="3431679"/>
            <a:ext cx="8516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PMI 54 → GDP +2.0–2.5%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535781" y="3606701"/>
            <a:ext cx="387994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-9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PMI </a:t>
            </a:r>
            <a:r>
              <a:rPr kumimoji="0" lang="en-US" sz="900" b="1" i="0" u="none" strike="noStrike" kern="0" cap="none" spc="-9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48</a:t>
            </a:r>
            <a:r>
              <a:rPr kumimoji="0" lang="en-US" sz="900" b="1" i="0" u="none" strike="noStrike" kern="0" cap="none" spc="-9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→ GDP </a:t>
            </a:r>
            <a:r>
              <a:rPr kumimoji="0" lang="en-US" sz="900" b="1" i="0" u="none" strike="noStrike" kern="0" cap="none" spc="-9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0%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535781" y="3821013"/>
            <a:ext cx="387994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Every U.S. recession since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1980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was preceded by ISM PMI breaking below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within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1-2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quarters. Current PMI at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54.0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NO RECESSION SIGNAL. Historical mapping: PMI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GDP growth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~2.0-2.5%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YoY, consistent with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consensus.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606826" y="3303091"/>
            <a:ext cx="4137124" cy="1340346"/>
          </a:xfrm>
          <a:prstGeom prst="roundRect">
            <a:avLst>
              <a:gd name="adj" fmla="val 4264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4606826" y="3306663"/>
            <a:ext cx="413712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3"/>
          <p:cNvSpPr/>
          <p:nvPr/>
        </p:nvSpPr>
        <p:spPr>
          <a:xfrm>
            <a:off x="8740378" y="3303091"/>
            <a:ext cx="0" cy="1340346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4606826" y="4639866"/>
            <a:ext cx="4137124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4617541" y="3303091"/>
            <a:ext cx="0" cy="1340346"/>
          </a:xfrm>
          <a:prstGeom prst="line">
            <a:avLst/>
          </a:prstGeom>
          <a:noFill/>
          <a:ln w="21431">
            <a:solidFill>
              <a:srgbClr val="FFB4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4719697" y="3401889"/>
            <a:ext cx="949293" cy="156020"/>
          </a:xfrm>
          <a:prstGeom prst="roundRect">
            <a:avLst>
              <a:gd name="adj" fmla="val 12210"/>
            </a:avLst>
          </a:prstGeom>
          <a:solidFill>
            <a:srgbClr val="FFB454">
              <a:alpha val="12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4742557" y="3410248"/>
            <a:ext cx="90357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 DIVERGENCE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7770837" y="3431679"/>
            <a:ext cx="8516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SPX 7,474 ATH • IP -4%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4742557" y="3606701"/>
            <a:ext cx="387994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-9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SPX ATH vs IP below ATH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4742557" y="3821013"/>
            <a:ext cx="387994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S&amp;P 500 at all-time high 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7,474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) while IP still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below Nov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ATH. Equities running on multiple expansion rather than output growth — fragile setup. SPX correction without IP downturn = buying opportunity; IP downturn following SPX correction = confirm recession risk.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114300" y="5020270"/>
            <a:ext cx="830516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ISM + BEA + FED + FRED • MONTHLY/QUARTERLY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8433755" y="5020270"/>
            <a:ext cx="59594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//PAGE 17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91888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COMPOSITE SIGNAL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5719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33105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18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51005" y="42863"/>
            <a:ext cx="129659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6 // KEY MESSAGE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14779" y="42863"/>
            <a:ext cx="61492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4/4 EXPANSION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0050" y="585788"/>
            <a:ext cx="57150" cy="57150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4350" y="555427"/>
            <a:ext cx="16117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11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COMPOSITE SIGNAL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72109" y="555427"/>
            <a:ext cx="18584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11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YOU REMEMBER ONE THING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0050" y="739378"/>
            <a:ext cx="8343900" cy="73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6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75" b="1" i="0" u="none" strike="noStrike" kern="0" cap="none" spc="-4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All Four Datasets Signal Expansion — High-Conviction Macro Read</a:t>
            </a:r>
            <a:endParaRPr kumimoji="0" lang="en-US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0050" y="1503983"/>
            <a:ext cx="771525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ISM PMI 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54.0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+ IP 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+1.67% YoY + 2s10s +27 bps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+ Initial Claims 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226K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 When all 4 agree, historical 12-month forward expansion hit rate is 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~90%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0050" y="2046908"/>
            <a:ext cx="2016323" cy="2596530"/>
          </a:xfrm>
          <a:prstGeom prst="roundRect">
            <a:avLst>
              <a:gd name="adj" fmla="val 2834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0050" y="2061195"/>
            <a:ext cx="2016323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412802" y="2046908"/>
            <a:ext cx="0" cy="259653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00050" y="4639866"/>
            <a:ext cx="2016323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03622" y="2046908"/>
            <a:ext cx="0" cy="259653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978930" y="2175495"/>
            <a:ext cx="301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16194" y="2179067"/>
            <a:ext cx="528856" cy="200025"/>
          </a:xfrm>
          <a:prstGeom prst="roundRect">
            <a:avLst>
              <a:gd name="adj" fmla="val 9524"/>
            </a:avLst>
          </a:prstGeom>
          <a:solidFill>
            <a:srgbClr val="FFB454">
              <a:alpha val="14000"/>
            </a:srgbClr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5781" y="2189783"/>
            <a:ext cx="4896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8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PMI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35781" y="2468389"/>
            <a:ext cx="1744861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75" b="1" i="0" u="none" strike="noStrike" kern="0" cap="none" spc="-10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54.0</a:t>
            </a:r>
            <a:endParaRPr kumimoji="0" lang="en-US" sz="33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35781" y="2972023"/>
            <a:ext cx="1744861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5781" y="2968451"/>
            <a:ext cx="1744861" cy="229743"/>
          </a:xfrm>
          <a:prstGeom prst="rect">
            <a:avLst/>
          </a:prstGeom>
          <a:noFill/>
          <a:ln/>
        </p:spPr>
        <p:txBody>
          <a:bodyPr wrap="none" lIns="0" tIns="71438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MANUFACTURING EXPANSION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5781" y="3225626"/>
            <a:ext cx="1744861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4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5-month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streak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breakeven. New Orders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56.8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leads. Employment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48.6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lags. Composite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maps to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~2.0-2.5%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GDP growth.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09242" y="2046908"/>
            <a:ext cx="2016323" cy="2596530"/>
          </a:xfrm>
          <a:prstGeom prst="roundRect">
            <a:avLst>
              <a:gd name="adj" fmla="val 2834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509242" y="2061195"/>
            <a:ext cx="2016323" cy="0"/>
          </a:xfrm>
          <a:prstGeom prst="line">
            <a:avLst/>
          </a:prstGeom>
          <a:noFill/>
          <a:ln w="28575">
            <a:solidFill>
              <a:srgbClr val="3FD0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21994" y="2046908"/>
            <a:ext cx="0" cy="259653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509242" y="4639866"/>
            <a:ext cx="2016323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512814" y="2046908"/>
            <a:ext cx="0" cy="259653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088123" y="2175495"/>
            <a:ext cx="301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622113" y="2179067"/>
            <a:ext cx="1257590" cy="200025"/>
          </a:xfrm>
          <a:prstGeom prst="roundRect">
            <a:avLst>
              <a:gd name="adj" fmla="val 9524"/>
            </a:avLst>
          </a:prstGeom>
          <a:solidFill>
            <a:srgbClr val="3FD0FF">
              <a:alpha val="14000"/>
            </a:srgbClr>
          </a:solidFill>
          <a:ln w="7144">
            <a:solidFill>
              <a:srgbClr val="3FD0FF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644973" y="2189783"/>
            <a:ext cx="121187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8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INDUSTRIAL PRODUCTION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644973" y="2468389"/>
            <a:ext cx="1744861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75" b="1" i="0" u="none" strike="noStrike" kern="0" cap="none" spc="-101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+1.67%</a:t>
            </a:r>
            <a:endParaRPr kumimoji="0" lang="en-US" sz="33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644973" y="2972023"/>
            <a:ext cx="1744861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644973" y="2968451"/>
            <a:ext cx="1744861" cy="229743"/>
          </a:xfrm>
          <a:prstGeom prst="rect">
            <a:avLst/>
          </a:prstGeom>
          <a:noFill/>
          <a:ln/>
        </p:spPr>
        <p:txBody>
          <a:bodyPr wrap="none" lIns="0" tIns="71438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YOY GROWTH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644973" y="3225626"/>
            <a:ext cx="1744861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4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Total IP at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102.65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,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base. Business Equipment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+5.66%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leads (capex).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of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sub-indices expanding. Manufacturing recovering.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618434" y="2046908"/>
            <a:ext cx="2016323" cy="2596530"/>
          </a:xfrm>
          <a:prstGeom prst="roundRect">
            <a:avLst>
              <a:gd name="adj" fmla="val 2834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618434" y="2061195"/>
            <a:ext cx="2016323" cy="0"/>
          </a:xfrm>
          <a:prstGeom prst="line">
            <a:avLst/>
          </a:prstGeom>
          <a:noFill/>
          <a:ln w="28575">
            <a:solidFill>
              <a:srgbClr val="F5C24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631186" y="2046908"/>
            <a:ext cx="0" cy="259653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618434" y="4639866"/>
            <a:ext cx="2016323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622006" y="2046908"/>
            <a:ext cx="0" cy="259653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197315" y="2175495"/>
            <a:ext cx="301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731306" y="2179067"/>
            <a:ext cx="948065" cy="200025"/>
          </a:xfrm>
          <a:prstGeom prst="roundRect">
            <a:avLst>
              <a:gd name="adj" fmla="val 9524"/>
            </a:avLst>
          </a:prstGeom>
          <a:solidFill>
            <a:srgbClr val="F5C242">
              <a:alpha val="14000"/>
            </a:srgbClr>
          </a:solidFill>
          <a:ln w="7144">
            <a:solidFill>
              <a:srgbClr val="F5C242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754166" y="2189783"/>
            <a:ext cx="90234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8" normalizeH="0" baseline="0" noProof="0" dirty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TREASURY YIELDS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754166" y="2468389"/>
            <a:ext cx="1744861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75" b="1" i="0" u="none" strike="noStrike" kern="0" cap="none" spc="-101" normalizeH="0" baseline="0" noProof="0" dirty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+27 bps</a:t>
            </a:r>
            <a:endParaRPr kumimoji="0" lang="en-US" sz="33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754166" y="2972023"/>
            <a:ext cx="1744861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754166" y="2968451"/>
            <a:ext cx="1744861" cy="229743"/>
          </a:xfrm>
          <a:prstGeom prst="rect">
            <a:avLst/>
          </a:prstGeom>
          <a:noFill/>
          <a:ln/>
        </p:spPr>
        <p:txBody>
          <a:bodyPr wrap="none" lIns="0" tIns="71438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2S10S NORMALIZED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754166" y="3225626"/>
            <a:ext cx="1744861" cy="85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4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Curve un-inverted after deepest inversion since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1981. 10Y at 4.46%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 Breakeven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2.25%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target. Term premium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+83 bps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first positive since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2019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727627" y="2046908"/>
            <a:ext cx="2016323" cy="2596530"/>
          </a:xfrm>
          <a:prstGeom prst="roundRect">
            <a:avLst>
              <a:gd name="adj" fmla="val 2834"/>
            </a:avLst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727627" y="2061195"/>
            <a:ext cx="2016323" cy="0"/>
          </a:xfrm>
          <a:prstGeom prst="line">
            <a:avLst/>
          </a:prstGeom>
          <a:noFill/>
          <a:ln w="28575">
            <a:solidFill>
              <a:srgbClr val="5BD07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8740378" y="2046908"/>
            <a:ext cx="0" cy="259653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727627" y="4639866"/>
            <a:ext cx="2016323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731198" y="2046908"/>
            <a:ext cx="0" cy="259653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306507" y="2175495"/>
            <a:ext cx="3017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840498" y="2179067"/>
            <a:ext cx="896496" cy="200025"/>
          </a:xfrm>
          <a:prstGeom prst="roundRect">
            <a:avLst>
              <a:gd name="adj" fmla="val 9524"/>
            </a:avLst>
          </a:prstGeom>
          <a:solidFill>
            <a:srgbClr val="5BD07D">
              <a:alpha val="14000"/>
            </a:srgbClr>
          </a:solidFill>
          <a:ln w="7144">
            <a:solidFill>
              <a:srgbClr val="5BD07D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863358" y="2189783"/>
            <a:ext cx="85077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68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JOBLESS CLAIMS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863358" y="2468389"/>
            <a:ext cx="1744861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75" b="1" i="0" u="none" strike="noStrike" kern="0" cap="none" spc="-101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226K</a:t>
            </a:r>
            <a:endParaRPr kumimoji="0" lang="en-US" sz="33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863358" y="2972023"/>
            <a:ext cx="1744861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863358" y="2968451"/>
            <a:ext cx="1744861" cy="229743"/>
          </a:xfrm>
          <a:prstGeom prst="rect">
            <a:avLst/>
          </a:prstGeom>
          <a:noFill/>
          <a:ln/>
        </p:spPr>
        <p:txBody>
          <a:bodyPr wrap="none" lIns="0" tIns="71438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 LABOR MARKET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863358" y="3225626"/>
            <a:ext cx="1744861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4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Initial Claims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-8.1%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YoY. Sahm Rule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+1.9%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(below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trigger). Continuing Claims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-7.0%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YoY. Both below pre-COVID medians. No recession signal.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14300" y="5020270"/>
            <a:ext cx="830516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ISM + FED G.17 + US TREASURY + US DOL • ANALYTICS DESK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8433755" y="5020270"/>
            <a:ext cx="59594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//PAGE 18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80395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DASHBOARD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62535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38450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19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69857" y="42863"/>
            <a:ext cx="80395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RISK VECTORS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60581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36496" y="42863"/>
            <a:ext cx="99320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SIGNAL: 4/4 EXPANSION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0050" y="542925"/>
            <a:ext cx="21431" cy="385763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7219" y="542925"/>
            <a:ext cx="8536781" cy="26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8" b="1" i="0" u="none" strike="noStrike" kern="0" cap="none" spc="-17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Risk Dashboard — What Could Break the Signal</a:t>
            </a:r>
            <a:endParaRPr kumimoji="0" lang="en-US" sz="16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7219" y="832247"/>
            <a:ext cx="813673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Four risk vectors that could flip the 4/4 expansion signal. Each with current trigger level and distance from trigger.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3622" y="1107281"/>
            <a:ext cx="4114800" cy="1712714"/>
          </a:xfrm>
          <a:prstGeom prst="roundRect">
            <a:avLst>
              <a:gd name="adj" fmla="val 3337"/>
            </a:avLst>
          </a:prstGeom>
          <a:solidFill>
            <a:srgbClr val="131826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5781" y="1248370"/>
            <a:ext cx="34754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Q1 · MANUFACTURING RISK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11073" y="1215938"/>
            <a:ext cx="389620" cy="172022"/>
          </a:xfrm>
          <a:prstGeom prst="roundRect">
            <a:avLst>
              <a:gd name="adj" fmla="val 16611"/>
            </a:avLst>
          </a:prstGeom>
          <a:solidFill>
            <a:srgbClr val="FFB454">
              <a:alpha val="12000"/>
            </a:srgbClr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25503" y="1225153"/>
            <a:ext cx="36075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6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5781" y="1435894"/>
            <a:ext cx="3850481" cy="21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3" b="1" i="0" u="none" strike="noStrike" kern="0" cap="none" spc="-15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ISM Employment</a:t>
            </a:r>
            <a:endParaRPr kumimoji="0" lang="en-US" sz="14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5781" y="1683023"/>
            <a:ext cx="3850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48.6 — 4-month contraction. Break below 45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would signal manufacturing recession.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35781" y="1906265"/>
            <a:ext cx="3850481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35781" y="2267024"/>
            <a:ext cx="3850481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5781" y="1966987"/>
            <a:ext cx="171199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35781" y="2077715"/>
            <a:ext cx="203918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48.6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881708" y="1966987"/>
            <a:ext cx="155636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881708" y="2077715"/>
            <a:ext cx="13579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&lt;45 · 3.6 pts away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111773" y="1966987"/>
            <a:ext cx="12744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111773" y="2077715"/>
            <a:ext cx="127449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3-mo streak &lt;47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5781" y="2601441"/>
            <a:ext cx="3960209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0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65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— Lagging but unusually long contraction.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625578" y="1107281"/>
            <a:ext cx="4114800" cy="1712714"/>
          </a:xfrm>
          <a:prstGeom prst="roundRect">
            <a:avLst>
              <a:gd name="adj" fmla="val 3337"/>
            </a:avLst>
          </a:prstGeom>
          <a:solidFill>
            <a:srgbClr val="131826"/>
          </a:solidFill>
          <a:ln w="7144">
            <a:solidFill>
              <a:srgbClr val="FF5C5C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57738" y="1248370"/>
            <a:ext cx="35683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Q2 · CONSUMER RISK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29355" y="1215938"/>
            <a:ext cx="289836" cy="172022"/>
          </a:xfrm>
          <a:prstGeom prst="roundRect">
            <a:avLst>
              <a:gd name="adj" fmla="val 16611"/>
            </a:avLst>
          </a:prstGeom>
          <a:solidFill>
            <a:srgbClr val="FF5C5C">
              <a:alpha val="12000"/>
            </a:srgbClr>
          </a:solidFill>
          <a:ln w="7144">
            <a:solidFill>
              <a:srgbClr val="FF5C5C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340328" y="1225153"/>
            <a:ext cx="26789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61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57738" y="1435894"/>
            <a:ext cx="3850481" cy="21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3" b="1" i="0" u="none" strike="noStrike" kern="0" cap="none" spc="-15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Consumer Goods IP</a:t>
            </a:r>
            <a:endParaRPr kumimoji="0" lang="en-US" sz="14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757738" y="1683023"/>
            <a:ext cx="3850481" cy="32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−0.20%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YoY — only IP sub-index contracting. Persistence would signal consumer-led downturn.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757738" y="2040210"/>
            <a:ext cx="3850481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757738" y="2400970"/>
            <a:ext cx="3850481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57738" y="2100932"/>
            <a:ext cx="171199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757738" y="2211660"/>
            <a:ext cx="149370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−0.20% YoY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103665" y="2100932"/>
            <a:ext cx="155636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103665" y="2211660"/>
            <a:ext cx="13579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&lt;−2% sustained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33729" y="2100932"/>
            <a:ext cx="12744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33729" y="2211660"/>
            <a:ext cx="127449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3-mo streak &lt;−1%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757738" y="2601441"/>
            <a:ext cx="3960209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0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65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— Lone soft spot, divergence from capex.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03622" y="2927152"/>
            <a:ext cx="4114800" cy="1712714"/>
          </a:xfrm>
          <a:prstGeom prst="roundRect">
            <a:avLst>
              <a:gd name="adj" fmla="val 3337"/>
            </a:avLst>
          </a:prstGeom>
          <a:solidFill>
            <a:srgbClr val="131826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35781" y="3068241"/>
            <a:ext cx="34754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Q3 · YIELD CURVE RISK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011073" y="3035808"/>
            <a:ext cx="389620" cy="172022"/>
          </a:xfrm>
          <a:prstGeom prst="roundRect">
            <a:avLst>
              <a:gd name="adj" fmla="val 16611"/>
            </a:avLst>
          </a:prstGeom>
          <a:solidFill>
            <a:srgbClr val="FFB454">
              <a:alpha val="12000"/>
            </a:srgbClr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025503" y="3045023"/>
            <a:ext cx="36075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6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35781" y="3255764"/>
            <a:ext cx="3850481" cy="21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3" b="1" i="0" u="none" strike="noStrike" kern="0" cap="none" spc="-15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2s10s Re-Inversion</a:t>
            </a:r>
            <a:endParaRPr kumimoji="0" lang="en-US" sz="14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35781" y="3502893"/>
            <a:ext cx="3850481" cy="32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+27 bps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currently. Re-inversion below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would be unprecedented double-inversion — stronger recession signal.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35781" y="3860081"/>
            <a:ext cx="3850481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35781" y="4220840"/>
            <a:ext cx="3850481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35781" y="3920803"/>
            <a:ext cx="171199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35781" y="4031531"/>
            <a:ext cx="16313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+27 bps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881708" y="3920803"/>
            <a:ext cx="155636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881708" y="4031531"/>
            <a:ext cx="14830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&lt;0 bps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3111773" y="3920803"/>
            <a:ext cx="12744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111773" y="4031531"/>
            <a:ext cx="127449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Fed pause + 2Y spike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35781" y="4421312"/>
            <a:ext cx="3960209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0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65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Watch if Fed pauses and 2Y spikes.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625578" y="2927152"/>
            <a:ext cx="4114800" cy="1712714"/>
          </a:xfrm>
          <a:prstGeom prst="roundRect">
            <a:avLst>
              <a:gd name="adj" fmla="val 3337"/>
            </a:avLst>
          </a:prstGeom>
          <a:solidFill>
            <a:srgbClr val="131826"/>
          </a:solidFill>
          <a:ln w="7144">
            <a:solidFill>
              <a:srgbClr val="5BD07D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4757738" y="3068241"/>
            <a:ext cx="34754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Q4 · LABOR MARKET RISK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233029" y="3035808"/>
            <a:ext cx="389620" cy="172022"/>
          </a:xfrm>
          <a:prstGeom prst="roundRect">
            <a:avLst>
              <a:gd name="adj" fmla="val 16611"/>
            </a:avLst>
          </a:prstGeom>
          <a:solidFill>
            <a:srgbClr val="5BD07D">
              <a:alpha val="12000"/>
            </a:srgbClr>
          </a:solidFill>
          <a:ln w="7144">
            <a:solidFill>
              <a:srgbClr val="5BD07D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247459" y="3045023"/>
            <a:ext cx="36075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61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757738" y="3255764"/>
            <a:ext cx="3850481" cy="21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3" b="1" i="0" u="none" strike="noStrike" kern="0" cap="none" spc="-15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Initial Claims Spike</a:t>
            </a:r>
            <a:endParaRPr kumimoji="0" lang="en-US" sz="14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4757738" y="3502893"/>
            <a:ext cx="3850481" cy="32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226K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currently.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3.1 pts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of Sahm cushion before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trigger. Sustained rise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first warning.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4757738" y="3860081"/>
            <a:ext cx="3850481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757738" y="4220840"/>
            <a:ext cx="3850481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4757738" y="3920803"/>
            <a:ext cx="171199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4757738" y="4031531"/>
            <a:ext cx="149370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226K · Sahm +1.9%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103665" y="3920803"/>
            <a:ext cx="155636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6103665" y="4031531"/>
            <a:ext cx="13579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300K · Sahm +5%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333729" y="3920803"/>
            <a:ext cx="12744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7333729" y="4031531"/>
            <a:ext cx="127449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4W MA &gt;250K × 3 wk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4757738" y="4421312"/>
            <a:ext cx="3960209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0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65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Most cushion of all 4 risks.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114300" y="5020270"/>
            <a:ext cx="7411306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ISM + FED G.17 + US TREASURY + US DOL • ANALYTICS DESK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7539893" y="5020270"/>
            <a:ext cx="157919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 · RISK DASHBOARD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43773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OUTLOOK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6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07382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20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53486" y="42863"/>
            <a:ext cx="7345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 / 20 / 20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966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5582" y="42863"/>
            <a:ext cx="80411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H2 2026 FRAMEWORK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0050" y="542925"/>
            <a:ext cx="21431" cy="385763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7219" y="542925"/>
            <a:ext cx="8136731" cy="26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8" b="1" i="0" u="none" strike="noStrike" kern="0" cap="none" spc="-17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H2 2026 Outlook — 4-Dataset Probability Framework</a:t>
            </a:r>
            <a:endParaRPr kumimoji="0" lang="en-US" sz="16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7219" y="832247"/>
            <a:ext cx="813673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Synthesis of all 4 datasets. Three scenarios with probabilities and dataset-specific triggers.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3622" y="1107281"/>
            <a:ext cx="2707481" cy="3057302"/>
          </a:xfrm>
          <a:prstGeom prst="roundRect">
            <a:avLst>
              <a:gd name="adj" fmla="val 2111"/>
            </a:avLst>
          </a:prstGeom>
          <a:solidFill>
            <a:srgbClr val="131826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8634" y="1201007"/>
            <a:ext cx="863456" cy="184023"/>
          </a:xfrm>
          <a:prstGeom prst="roundRect">
            <a:avLst>
              <a:gd name="adj" fmla="val 15528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1494" y="1210866"/>
            <a:ext cx="81773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79" normalizeH="0" baseline="0" noProof="0" dirty="0">
                <a:ln>
                  <a:noFill/>
                </a:ln>
                <a:solidFill>
                  <a:srgbClr val="0B0F1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BASE CASE 60%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1494" y="1446609"/>
            <a:ext cx="2471738" cy="15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3" b="1" i="0" u="none" strike="noStrike" kern="0" cap="none" spc="-1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Broadening Expansion</a:t>
            </a:r>
            <a:endParaRPr kumimoji="0" lang="en-US" sz="101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1494" y="1680121"/>
            <a:ext cx="2471738" cy="183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ISM PMI grinds to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55–57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through Q4 2026; 5-month expansion streak extends to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10+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IP grows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+2.0–2.5%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YoY; Manufacturing IP breaks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 by Q3 2026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stays in 4.0–4.8% range; 2s10s steepens to +50–75 bps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; Fed cuts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1–2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more times to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3.25–3.50%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Initial Claims stay in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200K–260K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band; Sahm proxy stays below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+3%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GDP growth tracks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~2.0–2.5%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YoY, consistent with PMI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historical mapping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All 4 datasets continue to signal expansion through year-end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18259" y="1107281"/>
            <a:ext cx="2707481" cy="3057302"/>
          </a:xfrm>
          <a:prstGeom prst="roundRect">
            <a:avLst>
              <a:gd name="adj" fmla="val 2111"/>
            </a:avLst>
          </a:prstGeom>
          <a:solidFill>
            <a:srgbClr val="131826"/>
          </a:solidFill>
          <a:ln w="7144">
            <a:solidFill>
              <a:srgbClr val="5BD07D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313271" y="1201007"/>
            <a:ext cx="863456" cy="184023"/>
          </a:xfrm>
          <a:prstGeom prst="roundRect">
            <a:avLst>
              <a:gd name="adj" fmla="val 15528"/>
            </a:avLst>
          </a:prstGeom>
          <a:solidFill>
            <a:srgbClr val="5BD07D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36131" y="1210866"/>
            <a:ext cx="81773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79" normalizeH="0" baseline="0" noProof="0" dirty="0">
                <a:ln>
                  <a:noFill/>
                </a:ln>
                <a:solidFill>
                  <a:srgbClr val="0B0F1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BULL CASE 20%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36131" y="1446609"/>
            <a:ext cx="2471738" cy="15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3" b="1" i="0" u="none" strike="noStrike" kern="0" cap="none" spc="-1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Capex Super-Cycle</a:t>
            </a:r>
            <a:endParaRPr kumimoji="0" lang="en-US" sz="101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36131" y="1680121"/>
            <a:ext cx="2471738" cy="183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ISM New Orders breaks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; PMI tests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58–60 — strongest since 2021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Business Equipment IP accelerates to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+8–10%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YoY; Total IP breaks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105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(near ATH)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Fed cuts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50–75 bp on disinflation; 10Y rallies to 3.5–4.0%; 2s10s bull steepens to +150 bps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Initial Claims fall below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; labor market tightens further; wage inflation re-accelerates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Utilities IP continues ATH streak as AI / datacenter demand accelerates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AI capex super-cycle drives synchronized expansion across all 4 datasets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32897" y="1107281"/>
            <a:ext cx="2707481" cy="3057302"/>
          </a:xfrm>
          <a:prstGeom prst="roundRect">
            <a:avLst>
              <a:gd name="adj" fmla="val 2111"/>
            </a:avLst>
          </a:prstGeom>
          <a:solidFill>
            <a:srgbClr val="131826"/>
          </a:solidFill>
          <a:ln w="7144">
            <a:solidFill>
              <a:srgbClr val="FF5C5C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27909" y="1201007"/>
            <a:ext cx="863456" cy="184023"/>
          </a:xfrm>
          <a:prstGeom prst="roundRect">
            <a:avLst>
              <a:gd name="adj" fmla="val 15528"/>
            </a:avLst>
          </a:prstGeom>
          <a:solidFill>
            <a:srgbClr val="FF5C5C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50769" y="1210866"/>
            <a:ext cx="81773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79" normalizeH="0" baseline="0" noProof="0" dirty="0">
                <a:ln>
                  <a:noFill/>
                </a:ln>
                <a:solidFill>
                  <a:srgbClr val="0B0F1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BEAR CASE 20%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50769" y="1446609"/>
            <a:ext cx="2471738" cy="159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3" b="1" i="0" u="none" strike="noStrike" kern="0" cap="none" spc="-1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False Dawn</a:t>
            </a:r>
            <a:endParaRPr kumimoji="0" lang="en-US" sz="101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50769" y="1680121"/>
            <a:ext cx="2471738" cy="183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ISM PMI rolls back below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within 3 months; 5-month expansion proves a false dawn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Consumer Goods weakness spreads to Business Equipment; IP rolls back below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breaks above 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on fiscal concerns; 2s10s re-inverts (unprecedented double-inversion)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Initial Claims spike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; Sahm proxy rises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— recession trigger fires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Continuing Claims rise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; labor market deterioration broadens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5C5C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2–3 of 4 datasets flip to contraction signal; recession arrives by Q1 2027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03622" y="4257452"/>
            <a:ext cx="8336756" cy="382414"/>
          </a:xfrm>
          <a:prstGeom prst="roundRect">
            <a:avLst>
              <a:gd name="adj" fmla="val 9963"/>
            </a:avLst>
          </a:prstGeom>
          <a:solidFill>
            <a:srgbClr val="FFB454">
              <a:alpha val="7000"/>
            </a:srgbClr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00050" y="4253880"/>
            <a:ext cx="8343900" cy="569867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marL="0" marR="0" lvl="0" indent="0" algn="l" defTabSz="914400" rtl="0" eaLnBrk="1" fontAlgn="auto" latinLnBrk="0" hangingPunct="1">
              <a:lnSpc>
                <a:spcPts val="9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59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TRIGGERS TO WATCH:</a:t>
            </a:r>
            <a:r>
              <a:rPr kumimoji="0" lang="en-US" sz="800" b="0" i="0" u="none" strike="noStrike" kern="0" cap="none" spc="18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800" b="1" i="0" u="none" strike="noStrike" kern="0" cap="none" spc="18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(1)</a:t>
            </a:r>
            <a:r>
              <a:rPr kumimoji="0" lang="en-US" sz="800" b="0" i="0" u="none" strike="noStrike" kern="0" cap="none" spc="18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ISM EMPLOYMENT — break above 50 confirms labor recovery </a:t>
            </a:r>
            <a:r>
              <a:rPr kumimoji="0" lang="en-US" sz="800" b="1" i="0" u="none" strike="noStrike" kern="0" cap="none" spc="18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(2)</a:t>
            </a:r>
            <a:r>
              <a:rPr kumimoji="0" lang="en-US" sz="800" b="0" i="0" u="none" strike="noStrike" kern="0" cap="none" spc="18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CONSUMER GOODS IP — return to YoY+ confirms demand broadening </a:t>
            </a:r>
            <a:r>
              <a:rPr kumimoji="0" lang="en-US" sz="800" b="1" i="0" u="none" strike="noStrike" kern="0" cap="none" spc="18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(3)</a:t>
            </a:r>
            <a:r>
              <a:rPr kumimoji="0" lang="en-US" sz="800" b="0" i="0" u="none" strike="noStrike" kern="0" cap="none" spc="18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10Y YIELD — break above 4.8% signals term premium repricing </a:t>
            </a:r>
            <a:r>
              <a:rPr kumimoji="0" lang="en-US" sz="800" b="1" i="0" u="none" strike="noStrike" kern="0" cap="none" spc="18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(4)</a:t>
            </a:r>
            <a:r>
              <a:rPr kumimoji="0" lang="en-US" sz="800" b="0" i="0" u="none" strike="noStrike" kern="0" cap="none" spc="18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INITIAL CLAIMS — sustained rise above 250K = first caution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4300" y="5020270"/>
            <a:ext cx="7709222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ISM + FED G.17 + US TREASURY + US DOL • ANALYTICS DESK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837810" y="5020270"/>
            <a:ext cx="1263403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 · OUTLOOK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6317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20665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96580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21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5468" y="42863"/>
            <a:ext cx="8614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ASSET CLASSES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33519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09434" y="42863"/>
            <a:ext cx="52026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CROSS-ASSET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0050" y="542925"/>
            <a:ext cx="21431" cy="385763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7219" y="542925"/>
            <a:ext cx="8136731" cy="26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8" b="1" i="0" u="none" strike="noStrike" kern="0" cap="none" spc="-17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Positioning Implications — 4-Dataset Cross-Asset</a:t>
            </a:r>
            <a:endParaRPr kumimoji="0" lang="en-US" sz="16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7219" y="832247"/>
            <a:ext cx="813673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How the 4/4 expansion signal translates to cross-asset positioning. Each quadrant covers one asset class.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3622" y="1107281"/>
            <a:ext cx="4114800" cy="1712714"/>
          </a:xfrm>
          <a:prstGeom prst="roundRect">
            <a:avLst>
              <a:gd name="adj" fmla="val 3337"/>
            </a:avLst>
          </a:prstGeom>
          <a:solidFill>
            <a:srgbClr val="131826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5781" y="1210866"/>
            <a:ext cx="3736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Q1 · EQUITIES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86250" y="12144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4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kumimoji="0" lang="en-US" sz="98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5781" y="1375172"/>
            <a:ext cx="3850481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3" b="1" i="0" u="none" strike="noStrike" kern="0" cap="none" spc="-15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LONG CYCLICALS</a:t>
            </a:r>
            <a:endParaRPr kumimoji="0" lang="en-US" sz="14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5781" y="1665163"/>
            <a:ext cx="3850481" cy="92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Industrials, Materials, Tech Hardware (capex exposure)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Utilities — AI / datacenter demand secular tailwind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Broad SPX — expensive vs IP (multiple expansion risk)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Consumer Staples — defensive, expensive if expansion broadens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SPX-IP divergence — correction without IP downturn = buying opportunity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25578" y="1107281"/>
            <a:ext cx="4114800" cy="1712714"/>
          </a:xfrm>
          <a:prstGeom prst="roundRect">
            <a:avLst>
              <a:gd name="adj" fmla="val 3337"/>
            </a:avLst>
          </a:prstGeom>
          <a:solidFill>
            <a:srgbClr val="131826"/>
          </a:solidFill>
          <a:ln w="7144">
            <a:solidFill>
              <a:srgbClr val="3FD0FF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57738" y="1210866"/>
            <a:ext cx="3736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Q2 · RATES / FIXED INCOME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08206" y="12144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4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kumimoji="0" lang="en-US" sz="98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57738" y="1375172"/>
            <a:ext cx="3850481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3" b="1" i="0" u="none" strike="noStrike" kern="0" cap="none" spc="-15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NEUTRAL DURATION</a:t>
            </a:r>
            <a:endParaRPr kumimoji="0" lang="en-US" sz="14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57738" y="1665163"/>
            <a:ext cx="3850481" cy="92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Neutral duration at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4.5% 10Y — range-bound 4.0–4.8%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TIPS breakevens (inflation sticky above 2% target)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Long-duration Treasuries — term premium rising, bear steepening risk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Barbell: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TIPS — capture short-end cuts + long-end real yield ATH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break above 4.8%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extend duration; below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4.0%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growth scare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03622" y="2927152"/>
            <a:ext cx="4114800" cy="1712714"/>
          </a:xfrm>
          <a:prstGeom prst="roundRect">
            <a:avLst>
              <a:gd name="adj" fmla="val 3337"/>
            </a:avLst>
          </a:prstGeom>
          <a:solidFill>
            <a:srgbClr val="131826"/>
          </a:solidFill>
          <a:ln w="7144">
            <a:solidFill>
              <a:srgbClr val="5BD07D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5781" y="3030736"/>
            <a:ext cx="3736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Q3 · COMMODITIES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286250" y="30343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4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kumimoji="0" lang="en-US" sz="98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5781" y="3195042"/>
            <a:ext cx="3850481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3" b="1" i="0" u="none" strike="noStrike" kern="0" cap="none" spc="-15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LONG ENERGY + METALS</a:t>
            </a:r>
            <a:endParaRPr kumimoji="0" lang="en-US" sz="14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5781" y="3485034"/>
            <a:ext cx="3850481" cy="1060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WTI Crude — PMI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+ IP rising = industrial demand growth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Industrial Metals — copper, aluminum (capex cycle + AI infrastructure)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Gold — real yields at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2.21%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restrictive, but fiscal deficit hedge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WTI 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$85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accelerates PMI demand; &lt;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$60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drags Mining IP into contraction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BULLISH 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ISM Supplier Deliveries stays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(supply stress = input cost pressure)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625578" y="2927152"/>
            <a:ext cx="4114800" cy="1712714"/>
          </a:xfrm>
          <a:prstGeom prst="roundRect">
            <a:avLst>
              <a:gd name="adj" fmla="val 3337"/>
            </a:avLst>
          </a:prstGeom>
          <a:solidFill>
            <a:srgbClr val="131826"/>
          </a:solidFill>
          <a:ln w="7144">
            <a:solidFill>
              <a:srgbClr val="E36BFF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57738" y="3030736"/>
            <a:ext cx="3736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Q4 · FX / DOLLAR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08206" y="30343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84" b="0" i="0" u="none" strike="noStrike" kern="1200" cap="none" spc="0" normalizeH="0" baseline="0" noProof="0" dirty="0">
                <a:ln>
                  <a:noFill/>
                </a:ln>
                <a:solidFill>
                  <a:srgbClr val="E36BFF"/>
                </a:solidFill>
                <a:effectLst/>
                <a:uLnTx/>
                <a:uFillTx/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kumimoji="0" lang="en-US" sz="98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57738" y="3195042"/>
            <a:ext cx="3850481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3" b="1" i="0" u="none" strike="noStrike" kern="0" cap="none" spc="-15" normalizeH="0" baseline="0" noProof="0" dirty="0">
                <a:ln>
                  <a:noFill/>
                </a:ln>
                <a:solidFill>
                  <a:srgbClr val="E36B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NEUTRAL USD</a:t>
            </a:r>
            <a:endParaRPr kumimoji="0" lang="en-US" sz="14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57738" y="3485034"/>
            <a:ext cx="3850481" cy="92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E36B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Neutral USD — Fed cutting cycle vs strong growth = balanced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E36B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EM currencies with commodity exposure (BRL, ZAR, MXN)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E36B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JPY — yield differential persistent even with Fed cuts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E36B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breakeven above 2.5%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would pressure USD (inflation differential)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79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E36B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BULLISH FOR USD 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breaks above 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(safe-haven + yield attraction)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4300" y="5020270"/>
            <a:ext cx="753900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ISM + FED G.17 + US TREASURY + US DOL • ANALYTICS DESK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667588" y="5020270"/>
            <a:ext cx="1443839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 · POSITIONING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68916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CARD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67992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43907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22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53486" y="42863"/>
            <a:ext cx="91888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SCREENSHOT-READY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38865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14779" y="42863"/>
            <a:ext cx="61492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4/4 EXPANSION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0050" y="542925"/>
            <a:ext cx="21431" cy="385763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7219" y="542925"/>
            <a:ext cx="8536781" cy="261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8" b="1" i="0" u="none" strike="noStrike" kern="0" cap="none" spc="-17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Dashboard Summary Card</a:t>
            </a:r>
            <a:endParaRPr kumimoji="0" lang="en-US" sz="16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7219" y="832247"/>
            <a:ext cx="813673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One-page reference. Screenshot this slide for a quick 4-dataset macro snapshot.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3622" y="1092994"/>
            <a:ext cx="4121944" cy="1494830"/>
          </a:xfrm>
          <a:prstGeom prst="roundRect">
            <a:avLst>
              <a:gd name="adj" fmla="val 3823"/>
            </a:avLst>
          </a:prstGeom>
          <a:solidFill>
            <a:srgbClr val="131826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1494" y="1195685"/>
            <a:ext cx="33738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Q1 · ISM MANUFACTURING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89718" y="1174254"/>
            <a:ext cx="537898" cy="150019"/>
          </a:xfrm>
          <a:prstGeom prst="roundRect">
            <a:avLst>
              <a:gd name="adj" fmla="val 19048"/>
            </a:avLst>
          </a:prstGeom>
          <a:solidFill>
            <a:srgbClr val="FFB454">
              <a:alpha val="14000"/>
            </a:srgbClr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909640" y="1182291"/>
            <a:ext cx="49805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8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1494" y="1359098"/>
            <a:ext cx="3886200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0" cap="none" spc="-45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54.0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1494" y="1687711"/>
            <a:ext cx="3995928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5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May 2026 • +1.3 m/m • 5-mo expansion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521494" y="1877020"/>
          <a:ext cx="3886200" cy="914400"/>
        </p:xfrm>
        <a:graphic>
          <a:graphicData uri="http://schemas.openxmlformats.org/drawingml/2006/table">
            <a:tbl>
              <a:tblPr/>
              <a:tblGrid>
                <a:gridCol w="259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 Orders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0" marT="0" marB="2571750" anchor="ctr">
                    <a:lnL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56.8 (+2.7)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4114800" marT="0" marB="2571750" anchor="ctr">
                    <a:lnL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5BD07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LEADING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0" marT="57150" marB="35719" anchor="ctr">
                    <a:lnL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Employment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0" marT="0" marB="2571750" anchor="ctr">
                    <a:lnL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48.6 (−0.3)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4114800" marT="0" marB="2571750" anchor="ctr">
                    <a:lnL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5C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LAGGING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0" marT="57150" marB="35719" anchor="ctr">
                    <a:lnL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Supplier Del.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0" marT="0" marB="2571750" anchor="ctr">
                    <a:lnL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60.6 (+1.9)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4114800" marT="0" marB="2571750" anchor="ctr">
                    <a:lnL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STRESS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0" marT="57150" marB="35719" anchor="ctr">
                    <a:lnL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B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21494" y="2505670"/>
            <a:ext cx="3886200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21494" y="2573536"/>
            <a:ext cx="557601" cy="97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16779" y="2544992"/>
            <a:ext cx="641107" cy="132767"/>
          </a:xfrm>
          <a:prstGeom prst="roundRect">
            <a:avLst>
              <a:gd name="adj" fmla="val 14348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039639" y="2552105"/>
            <a:ext cx="595387" cy="1185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 breakeven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640741" y="2544992"/>
            <a:ext cx="641107" cy="132767"/>
          </a:xfrm>
          <a:prstGeom prst="roundRect">
            <a:avLst>
              <a:gd name="adj" fmla="val 14348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663601" y="2552105"/>
            <a:ext cx="595387" cy="1185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 recession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264703" y="2544992"/>
            <a:ext cx="930094" cy="132767"/>
          </a:xfrm>
          <a:prstGeom prst="roundRect">
            <a:avLst>
              <a:gd name="adj" fmla="val 14348"/>
            </a:avLst>
          </a:prstGeom>
          <a:solidFill>
            <a:srgbClr val="1A2030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287563" y="2552105"/>
            <a:ext cx="884374" cy="1185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43 deep contraction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618434" y="1092994"/>
            <a:ext cx="4121944" cy="1494830"/>
          </a:xfrm>
          <a:prstGeom prst="roundRect">
            <a:avLst>
              <a:gd name="adj" fmla="val 3823"/>
            </a:avLst>
          </a:prstGeom>
          <a:solidFill>
            <a:srgbClr val="131826"/>
          </a:solidFill>
          <a:ln w="7144">
            <a:solidFill>
              <a:srgbClr val="3FD0FF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736306" y="1195685"/>
            <a:ext cx="34591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Q2 · INDUSTRIAL PRODUCTION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193220" y="1174254"/>
            <a:ext cx="445797" cy="150019"/>
          </a:xfrm>
          <a:prstGeom prst="roundRect">
            <a:avLst>
              <a:gd name="adj" fmla="val 19048"/>
            </a:avLst>
          </a:prstGeom>
          <a:solidFill>
            <a:srgbClr val="3FD0FF">
              <a:alpha val="14000"/>
            </a:srgbClr>
          </a:solidFill>
          <a:ln w="7144">
            <a:solidFill>
              <a:srgbClr val="3FD0FF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8209731" y="1182291"/>
            <a:ext cx="41277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8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736306" y="1359098"/>
            <a:ext cx="3886200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0" cap="none" spc="-45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102.65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736306" y="1687711"/>
            <a:ext cx="3995928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5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May 2026 • +1.67% YoY • above 2017 base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9" name="Table 1"/>
          <p:cNvGraphicFramePr>
            <a:graphicFrameLocks noGrp="1"/>
          </p:cNvGraphicFramePr>
          <p:nvPr/>
        </p:nvGraphicFramePr>
        <p:xfrm>
          <a:off x="4736306" y="1877020"/>
          <a:ext cx="3886200" cy="914400"/>
        </p:xfrm>
        <a:graphic>
          <a:graphicData uri="http://schemas.openxmlformats.org/drawingml/2006/table">
            <a:tbl>
              <a:tblPr/>
              <a:tblGrid>
                <a:gridCol w="259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Business Equip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0" marT="0" marB="2571750" anchor="ctr">
                    <a:lnL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98.38 (+5.66% YoY)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4114800" marT="0" marB="2571750" anchor="ctr">
                    <a:lnL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5BD07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LEADING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0" marT="57150" marB="35719" anchor="ctr">
                    <a:lnL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Utilities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0" marT="0" marB="2571750" anchor="ctr">
                    <a:lnL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111.12 (+3.12% YoY)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4114800" marT="0" marB="2571750" anchor="ctr">
                    <a:lnL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FD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ATH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0" marT="57150" marB="35719" anchor="ctr">
                    <a:lnL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Consumer Goods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0" marT="0" marB="2571750" anchor="ctr">
                    <a:lnL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98.86 (−0.20% YoY)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4114800" marT="0" marB="2571750" anchor="ctr">
                    <a:lnL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5C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LAGGING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0" marT="57150" marB="35719" anchor="ctr">
                    <a:lnL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FD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" name="Shape 36"/>
          <p:cNvSpPr/>
          <p:nvPr/>
        </p:nvSpPr>
        <p:spPr>
          <a:xfrm>
            <a:off x="4736306" y="2505670"/>
            <a:ext cx="3886200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4736306" y="2502098"/>
            <a:ext cx="3995928" cy="91440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Total IP still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3.8% below Nov 2014 ATH.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403622" y="2680692"/>
            <a:ext cx="4121944" cy="1494830"/>
          </a:xfrm>
          <a:prstGeom prst="roundRect">
            <a:avLst>
              <a:gd name="adj" fmla="val 3823"/>
            </a:avLst>
          </a:prstGeom>
          <a:solidFill>
            <a:srgbClr val="131826"/>
          </a:solidFill>
          <a:ln w="7144">
            <a:solidFill>
              <a:srgbClr val="F5C242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521494" y="2783384"/>
            <a:ext cx="33312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Q3 · TREASURY YIELDS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3845373" y="2761952"/>
            <a:ext cx="583948" cy="150019"/>
          </a:xfrm>
          <a:prstGeom prst="roundRect">
            <a:avLst>
              <a:gd name="adj" fmla="val 19048"/>
            </a:avLst>
          </a:prstGeom>
          <a:solidFill>
            <a:srgbClr val="F5C242">
              <a:alpha val="14000"/>
            </a:srgbClr>
          </a:solidFill>
          <a:ln w="7144">
            <a:solidFill>
              <a:srgbClr val="F5C242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3867001" y="2769989"/>
            <a:ext cx="540693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8" normalizeH="0" baseline="0" noProof="0" dirty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RANGEBOUND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521494" y="2946797"/>
            <a:ext cx="3886200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0" cap="none" spc="-45" normalizeH="0" baseline="0" noProof="0" dirty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4.46%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521494" y="3275409"/>
            <a:ext cx="3995928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5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10Y yield • Jun 21, 2026 • 2s10s +27 bps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8" name="Table 2"/>
          <p:cNvGraphicFramePr>
            <a:graphicFrameLocks noGrp="1"/>
          </p:cNvGraphicFramePr>
          <p:nvPr/>
        </p:nvGraphicFramePr>
        <p:xfrm>
          <a:off x="521494" y="3464719"/>
          <a:ext cx="3886200" cy="914400"/>
        </p:xfrm>
        <a:graphic>
          <a:graphicData uri="http://schemas.openxmlformats.org/drawingml/2006/table">
            <a:tbl>
              <a:tblPr/>
              <a:tblGrid>
                <a:gridCol w="259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0" marT="0" marB="2571750" anchor="ctr">
                    <a:lnL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4.19% (−251 bps YoY)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4114800" marT="0" marB="2571750" anchor="ctr">
                    <a:lnL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CUTS PRICED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0" marT="57150" marB="35719" anchor="ctr">
                    <a:lnL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10Y Breakeven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0" marT="0" marB="2571750" anchor="ctr">
                    <a:lnL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2.25%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4114800" marT="0" marB="2571750" anchor="ctr">
                    <a:lnL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ABOVE 2% TARGET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0" marT="57150" marB="35719" anchor="ctr">
                    <a:lnL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10Y TIPS Real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0" marT="0" marB="2571750" anchor="ctr">
                    <a:lnL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2.21%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4114800" marT="0" marB="2571750" anchor="ctr">
                    <a:lnL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FFB45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RESTRICTIVE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0" marT="57150" marB="35719" anchor="ctr">
                    <a:lnL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C2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Shape 44"/>
          <p:cNvSpPr/>
          <p:nvPr/>
        </p:nvSpPr>
        <p:spPr>
          <a:xfrm>
            <a:off x="521494" y="4093369"/>
            <a:ext cx="3886200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5"/>
          <p:cNvSpPr/>
          <p:nvPr/>
        </p:nvSpPr>
        <p:spPr>
          <a:xfrm>
            <a:off x="521494" y="4089797"/>
            <a:ext cx="3886200" cy="91440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Term premium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+83 bps = first positive since 2019.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6"/>
          <p:cNvSpPr/>
          <p:nvPr/>
        </p:nvSpPr>
        <p:spPr>
          <a:xfrm>
            <a:off x="4618434" y="2680692"/>
            <a:ext cx="4121944" cy="1494830"/>
          </a:xfrm>
          <a:prstGeom prst="roundRect">
            <a:avLst>
              <a:gd name="adj" fmla="val 3823"/>
            </a:avLst>
          </a:prstGeom>
          <a:solidFill>
            <a:srgbClr val="131826"/>
          </a:solidFill>
          <a:ln w="7144">
            <a:solidFill>
              <a:srgbClr val="5BD07D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7"/>
          <p:cNvSpPr/>
          <p:nvPr/>
        </p:nvSpPr>
        <p:spPr>
          <a:xfrm>
            <a:off x="4736306" y="2783384"/>
            <a:ext cx="3459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7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Q4 · JOBLESS CLAIMS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8"/>
          <p:cNvSpPr/>
          <p:nvPr/>
        </p:nvSpPr>
        <p:spPr>
          <a:xfrm>
            <a:off x="8193220" y="2761952"/>
            <a:ext cx="445797" cy="150019"/>
          </a:xfrm>
          <a:prstGeom prst="roundRect">
            <a:avLst>
              <a:gd name="adj" fmla="val 19048"/>
            </a:avLst>
          </a:prstGeom>
          <a:solidFill>
            <a:srgbClr val="5BD07D">
              <a:alpha val="14000"/>
            </a:srgbClr>
          </a:solidFill>
          <a:ln w="7144">
            <a:solidFill>
              <a:srgbClr val="5BD07D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49"/>
          <p:cNvSpPr/>
          <p:nvPr/>
        </p:nvSpPr>
        <p:spPr>
          <a:xfrm>
            <a:off x="8209731" y="2769989"/>
            <a:ext cx="412775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8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0"/>
          <p:cNvSpPr/>
          <p:nvPr/>
        </p:nvSpPr>
        <p:spPr>
          <a:xfrm>
            <a:off x="4736306" y="2946797"/>
            <a:ext cx="3886200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0" cap="none" spc="-45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226K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1"/>
          <p:cNvSpPr/>
          <p:nvPr/>
        </p:nvSpPr>
        <p:spPr>
          <a:xfrm>
            <a:off x="4736306" y="3275409"/>
            <a:ext cx="3995928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5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Initial Claims • Jun 13, 2026 • −8.1%</a:t>
            </a:r>
            <a:r>
              <a:rPr kumimoji="0" lang="en-US" sz="800" b="0" i="0" u="none" strike="noStrike" kern="0" cap="none" spc="25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7" name="Table 3"/>
          <p:cNvGraphicFramePr>
            <a:graphicFrameLocks noGrp="1"/>
          </p:cNvGraphicFramePr>
          <p:nvPr/>
        </p:nvGraphicFramePr>
        <p:xfrm>
          <a:off x="4736306" y="3464719"/>
          <a:ext cx="3886200" cy="914400"/>
        </p:xfrm>
        <a:graphic>
          <a:graphicData uri="http://schemas.openxmlformats.org/drawingml/2006/table">
            <a:tbl>
              <a:tblPr/>
              <a:tblGrid>
                <a:gridCol w="259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Continuing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0" marT="0" marB="2571750" anchor="ctr">
                    <a:lnL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1.81M (−7.0% YoY)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4114800" marT="0" marB="2571750" anchor="ctr">
                    <a:lnL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5BD07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IMPROVING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0" marT="57150" marB="35719" anchor="ctr">
                    <a:lnL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Sahm Proxy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0" marT="0" marB="2571750" anchor="ctr">
                    <a:lnL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+1.9%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4114800" marT="0" marB="2571750" anchor="ctr">
                    <a:lnL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TRIGGER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0" marT="57150" marB="35719" anchor="ctr">
                    <a:lnL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9BA3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4W MA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0" marT="0" marB="2571750" anchor="ctr">
                    <a:lnL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E8EC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223K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571750" marR="4114800" marT="0" marB="2571750" anchor="ctr">
                    <a:lnL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5BD07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BELOW 250K HEALTHY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0" marT="57150" marB="35719" anchor="ctr">
                    <a:lnL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D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8" name="Shape 52"/>
          <p:cNvSpPr/>
          <p:nvPr/>
        </p:nvSpPr>
        <p:spPr>
          <a:xfrm>
            <a:off x="4736306" y="4093369"/>
            <a:ext cx="3886200" cy="0"/>
          </a:xfrm>
          <a:prstGeom prst="line">
            <a:avLst/>
          </a:prstGeom>
          <a:noFill/>
          <a:ln w="7144">
            <a:solidFill>
              <a:srgbClr val="1F26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3"/>
          <p:cNvSpPr/>
          <p:nvPr/>
        </p:nvSpPr>
        <p:spPr>
          <a:xfrm>
            <a:off x="4736306" y="4089797"/>
            <a:ext cx="3886200" cy="91440"/>
          </a:xfrm>
          <a:prstGeom prst="rect">
            <a:avLst/>
          </a:prstGeom>
          <a:noFill/>
          <a:ln/>
        </p:spPr>
        <p:txBody>
          <a:bodyPr wrap="square" lIns="0" tIns="42863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5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Post-COVID median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below pre-COVID — structural shift.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4"/>
          <p:cNvSpPr/>
          <p:nvPr/>
        </p:nvSpPr>
        <p:spPr>
          <a:xfrm>
            <a:off x="403622" y="4254103"/>
            <a:ext cx="8336756" cy="385763"/>
          </a:xfrm>
          <a:prstGeom prst="roundRect">
            <a:avLst>
              <a:gd name="adj" fmla="val 9877"/>
            </a:avLst>
          </a:prstGeom>
          <a:solidFill>
            <a:srgbClr val="FFB454">
              <a:alpha val="8000"/>
            </a:srgbClr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5"/>
          <p:cNvSpPr/>
          <p:nvPr/>
        </p:nvSpPr>
        <p:spPr>
          <a:xfrm>
            <a:off x="400050" y="4250531"/>
            <a:ext cx="8343900" cy="548640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marL="0" marR="0" lvl="0" indent="0" algn="ctr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1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COMPOSITE SIGNAL: 4/4 EXPANSION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HISTORICAL HIT RATE 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~90%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CASE 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60%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BROADENING 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WATCH: ISM EMPLOYMENT + CONSUMER GOODS IP + 10Y RANGE + INITIAL CLAIMS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56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57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58"/>
          <p:cNvSpPr/>
          <p:nvPr/>
        </p:nvSpPr>
        <p:spPr>
          <a:xfrm>
            <a:off x="114300" y="5020270"/>
            <a:ext cx="7496361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ISM + FED G.17 + US TREASURY + US DOL • ANALYTICS DESK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59"/>
          <p:cNvSpPr/>
          <p:nvPr/>
        </p:nvSpPr>
        <p:spPr>
          <a:xfrm>
            <a:off x="7624949" y="5020270"/>
            <a:ext cx="148903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 · SUMMARY CARD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68916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67992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43907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23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26425" y="42863"/>
            <a:ext cx="57437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9,000+ OBS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28062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03977" y="42863"/>
            <a:ext cx="42572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1948–2026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0050" y="542925"/>
            <a:ext cx="21431" cy="385763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7219" y="542925"/>
            <a:ext cx="8536781" cy="261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4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88" b="1" i="0" u="none" strike="noStrike" kern="0" cap="none" spc="-17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Data Sources &amp; Methodology Notes</a:t>
            </a:r>
            <a:endParaRPr kumimoji="0" lang="en-US" sz="168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7219" y="832247"/>
            <a:ext cx="813673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9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All data sourced from official U.S. government + ISM releases. No third-party data. Methodology transparent and reproducible.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3622" y="1107281"/>
            <a:ext cx="4100513" cy="832247"/>
          </a:xfrm>
          <a:prstGeom prst="roundRect">
            <a:avLst>
              <a:gd name="adj" fmla="val 6867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7206" y="1189434"/>
            <a:ext cx="21431" cy="667941"/>
          </a:xfrm>
          <a:prstGeom prst="roundRect">
            <a:avLst>
              <a:gd name="adj" fmla="val 44445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00088" y="1189434"/>
            <a:ext cx="31160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9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ISM MANUFACTURING PMI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30389" y="1210866"/>
            <a:ext cx="5701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4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 · MONTHLY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00088" y="1364456"/>
            <a:ext cx="3700463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Source: Institute for Supply Management (ISM). Monthly survey of ~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purchasing managers. Diffusion index,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breakeven.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monthly observations, Jan 1948 – May 2026. Released first business day of each month. 5 sub-indices weighted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each in composite.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03622" y="2018109"/>
            <a:ext cx="4100513" cy="709017"/>
          </a:xfrm>
          <a:prstGeom prst="roundRect">
            <a:avLst>
              <a:gd name="adj" fmla="val 8060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7206" y="2100263"/>
            <a:ext cx="21431" cy="544711"/>
          </a:xfrm>
          <a:prstGeom prst="roundRect">
            <a:avLst>
              <a:gd name="adj" fmla="val 44445"/>
            </a:avLst>
          </a:prstGeom>
          <a:solidFill>
            <a:srgbClr val="3FD0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00088" y="2100263"/>
            <a:ext cx="28967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9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INDUSTRIAL PRODUCTION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11166" y="2121694"/>
            <a:ext cx="78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4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FED G.17 · MONTHLY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0088" y="2275284"/>
            <a:ext cx="3700463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Source: Federal Reserve G.17. Physical output (kWh, tons, units) indexed to 2017 =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653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monthly observations, Jan 1972 – May 2026. Released mid-month for prior month. 3 industry groups (Mfg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, Mining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, Utilities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10%) + 4+ market groups.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03622" y="2805708"/>
            <a:ext cx="4100513" cy="709017"/>
          </a:xfrm>
          <a:prstGeom prst="roundRect">
            <a:avLst>
              <a:gd name="adj" fmla="val 8060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7206" y="2887861"/>
            <a:ext cx="21431" cy="544711"/>
          </a:xfrm>
          <a:prstGeom prst="roundRect">
            <a:avLst>
              <a:gd name="adj" fmla="val 44445"/>
            </a:avLst>
          </a:prstGeom>
          <a:solidFill>
            <a:srgbClr val="F5C242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0088" y="2887861"/>
            <a:ext cx="285292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9" normalizeH="0" baseline="0" noProof="0" dirty="0">
                <a:ln>
                  <a:noFill/>
                </a:ln>
                <a:solidFill>
                  <a:srgbClr val="F5C242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TREASURY YIELDS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567299" y="2909292"/>
            <a:ext cx="8332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4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 TREASURY · DAILY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00088" y="3062883"/>
            <a:ext cx="3700463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Source: US Treasury (Daily Par Yield Curve) + Fed (Fed Funds).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nominal maturities (1mo–30yr) + 5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TIPS + Fed Funds.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3,756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weekly observations, Jul 1954 – Jun 21, 2026. TIPS available from 2003. Breakeven = nominal minus TIPS yield.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03622" y="3593306"/>
            <a:ext cx="4100513" cy="709017"/>
          </a:xfrm>
          <a:prstGeom prst="roundRect">
            <a:avLst>
              <a:gd name="adj" fmla="val 8060"/>
            </a:avLst>
          </a:prstGeom>
          <a:solidFill>
            <a:srgbClr val="131826"/>
          </a:solidFill>
          <a:ln w="7144">
            <a:solidFill>
              <a:srgbClr val="2A3247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7206" y="3675459"/>
            <a:ext cx="21431" cy="544711"/>
          </a:xfrm>
          <a:prstGeom prst="roundRect">
            <a:avLst>
              <a:gd name="adj" fmla="val 44445"/>
            </a:avLst>
          </a:prstGeom>
          <a:solidFill>
            <a:srgbClr val="5BD07D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00088" y="3675459"/>
            <a:ext cx="30283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9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JOBLESS CLAIMS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742767" y="3696891"/>
            <a:ext cx="6577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41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 DOL · WEEKLY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0088" y="3850481"/>
            <a:ext cx="3700463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Source: US Department of Labor (Unemployment Insurance Weekly Claims). Initial Claims (ICSA) + Continuing Claims (CCSA). Seasonally adjusted.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3,102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weekly observations, Jan 1967 – Jun 13, 2026. Released every Thursday 8:30 AM ET.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639866" y="1107281"/>
            <a:ext cx="4100513" cy="1125141"/>
          </a:xfrm>
          <a:prstGeom prst="roundRect">
            <a:avLst>
              <a:gd name="adj" fmla="val 5079"/>
            </a:avLst>
          </a:prstGeom>
          <a:solidFill>
            <a:srgbClr val="131826"/>
          </a:solidFill>
          <a:ln w="7144">
            <a:solidFill>
              <a:srgbClr val="5BD07D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43450" y="120908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914900" y="1196578"/>
            <a:ext cx="37218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4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CROSS-VALIDATION LOGIC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43450" y="1378744"/>
            <a:ext cx="3893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Composite signal = count of datasets signaling expansion (0–4).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4/4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high-conviction expansion 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~90%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hit rate).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3/4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moderate conviction 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~75%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).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2/4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mixed / noisy.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1/4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or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0/4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contraction signal. Current: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4/4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expansion.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639866" y="2311003"/>
            <a:ext cx="4100513" cy="1125141"/>
          </a:xfrm>
          <a:prstGeom prst="roundRect">
            <a:avLst>
              <a:gd name="adj" fmla="val 5079"/>
            </a:avLst>
          </a:prstGeom>
          <a:solidFill>
            <a:srgbClr val="131826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743450" y="241280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914900" y="2400300"/>
            <a:ext cx="37218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RECESSION RULES APPLIED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743450" y="2582466"/>
            <a:ext cx="3893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ISM PMI &lt;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recession warning (1–2 quarters ahead). 2s10s inversion = recession warning (6–18 months ahead). Sahm Rule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+5%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recession trigger (coincident). Initial Claims 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400K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recession confirmed. Current: none triggered.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639866" y="3514725"/>
            <a:ext cx="4100513" cy="1125141"/>
          </a:xfrm>
          <a:prstGeom prst="roundRect">
            <a:avLst>
              <a:gd name="adj" fmla="val 5079"/>
            </a:avLst>
          </a:prstGeom>
          <a:solidFill>
            <a:srgbClr val="131826"/>
          </a:solidFill>
          <a:ln w="7144">
            <a:solidFill>
              <a:srgbClr val="3FD0FF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743450" y="36165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914900" y="3604022"/>
            <a:ext cx="37218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4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LIMITATIONS &amp; CAVEATS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743450" y="3786188"/>
            <a:ext cx="3893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Datasets have different frequencies (monthly ISM/IP vs weekly Yields/Claims). Cross-correlations computed on aligned dates. Historical hit rates based on 1970–2026 sample. Past performance does not guarantee future results. AI capex + fiscal deficits may have structurally altered cycle dynamics post-COVID.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4300" y="5020270"/>
            <a:ext cx="7496361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ISM + FED G.17 + US TREASURY + US DOL • ANALYTICS DESK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624949" y="5020270"/>
            <a:ext cx="1489037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 · DATA SOURCES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025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96453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" y="75009"/>
            <a:ext cx="42863" cy="42863"/>
          </a:xfrm>
          <a:prstGeom prst="ellipse">
            <a:avLst/>
          </a:prstGeom>
          <a:solidFill>
            <a:srgbClr val="5BD07D"/>
          </a:solidFill>
          <a:ln/>
          <a:effectLst>
            <a:outerShdw blurRad="57150" dist="50800" dir="16200000" algn="bl" rotWithShape="0">
              <a:srgbClr val="5BD07D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750" y="42863"/>
            <a:ext cx="56288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BLOOMBERG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006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975" y="42863"/>
            <a:ext cx="103367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95897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71812" y="42863"/>
            <a:ext cx="74662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OF REPORT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15320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91235" y="42863"/>
            <a:ext cx="68916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24 / 24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37227" y="42863"/>
            <a:ext cx="57437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PAGE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38865" y="42863"/>
            <a:ext cx="1116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14779" y="42863"/>
            <a:ext cx="61492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4/4 EXPANSION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0050" y="1742294"/>
            <a:ext cx="83439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88815" y="575929"/>
            <a:ext cx="966371" cy="184023"/>
          </a:xfrm>
          <a:prstGeom prst="roundRect">
            <a:avLst>
              <a:gd name="adj" fmla="val 15528"/>
            </a:avLst>
          </a:prstGeom>
          <a:solidFill>
            <a:srgbClr val="FFB454">
              <a:alpha val="6000"/>
            </a:srgbClr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1675" y="585788"/>
            <a:ext cx="9206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12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OF REPORT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0050" y="821531"/>
            <a:ext cx="8343900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0" cap="none" spc="-54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 — </a:t>
            </a:r>
            <a:r>
              <a:rPr kumimoji="0" lang="en-US" sz="2700" b="1" i="0" u="none" strike="noStrike" kern="0" cap="none" spc="-54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Complete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0050" y="1252947"/>
            <a:ext cx="83439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5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0" cap="none" spc="6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r>
              <a:rPr kumimoji="0" lang="en-US" sz="1125" b="0" i="0" u="none" strike="noStrike" kern="0" cap="none" spc="6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datasets analyzed. </a:t>
            </a:r>
            <a:r>
              <a:rPr kumimoji="0" lang="en-US" sz="1125" b="0" i="0" u="none" strike="noStrike" kern="0" cap="none" spc="6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9,000+</a:t>
            </a:r>
            <a:r>
              <a:rPr kumimoji="0" lang="en-US" sz="1125" b="0" i="0" u="none" strike="noStrike" kern="0" cap="none" spc="6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observations spanning </a:t>
            </a:r>
            <a:r>
              <a:rPr kumimoji="0" lang="en-US" sz="1125" b="0" i="0" u="none" strike="noStrike" kern="0" cap="none" spc="6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78 years</a:t>
            </a:r>
            <a:r>
              <a:rPr kumimoji="0" lang="en-US" sz="1125" b="0" i="0" u="none" strike="noStrike" kern="0" cap="none" spc="6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r>
              <a:rPr kumimoji="0" lang="en-US" sz="1125" b="0" i="0" u="none" strike="noStrike" kern="0" cap="none" spc="6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r>
              <a:rPr kumimoji="0" lang="en-US" sz="1125" b="0" i="0" u="none" strike="noStrike" kern="0" cap="none" spc="6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slides. One unified macro signal: </a:t>
            </a:r>
            <a:r>
              <a:rPr kumimoji="0" lang="en-US" sz="1125" b="0" i="0" u="none" strike="noStrike" kern="0" cap="none" spc="6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4/4 EXPANSION</a:t>
            </a:r>
            <a:r>
              <a:rPr kumimoji="0" lang="en-US" sz="1125" b="0" i="0" u="none" strike="noStrike" kern="0" cap="none" spc="6" normalizeH="0" baseline="0" noProof="0" dirty="0">
                <a:ln>
                  <a:noFill/>
                </a:ln>
                <a:solidFill>
                  <a:srgbClr val="9BA3B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3622" y="1849450"/>
            <a:ext cx="2707481" cy="2429656"/>
          </a:xfrm>
          <a:prstGeom prst="roundRect">
            <a:avLst>
              <a:gd name="adj" fmla="val 2352"/>
            </a:avLst>
          </a:prstGeom>
          <a:solidFill>
            <a:srgbClr val="131826"/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8634" y="1943176"/>
            <a:ext cx="810436" cy="184023"/>
          </a:xfrm>
          <a:prstGeom prst="roundRect">
            <a:avLst>
              <a:gd name="adj" fmla="val 15528"/>
            </a:avLst>
          </a:prstGeom>
          <a:solidFill>
            <a:srgbClr val="FFB45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1494" y="1953034"/>
            <a:ext cx="76471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79" normalizeH="0" baseline="0" noProof="0" dirty="0">
                <a:ln>
                  <a:noFill/>
                </a:ln>
                <a:solidFill>
                  <a:srgbClr val="0B0F1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1494" y="2174491"/>
            <a:ext cx="2471738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6" b="1" i="0" u="none" strike="noStrike" kern="0" cap="none" spc="-1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Decks Produced</a:t>
            </a:r>
            <a:endParaRPr kumimoji="0" lang="en-US" sz="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1494" y="2405881"/>
            <a:ext cx="2471738" cy="124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ISM Manufacturing Analysis 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slides)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Industrial Production Analysis 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slides)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Industrial Dashboard v1 (20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slides — ISM+IP)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Macro Industrial Executive Brief 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slides)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US Benchmark Yields Analysis 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slides)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US Jobless Claims Analysis 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slides)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 (24 slides — this deck, 4 datasets)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18259" y="1849450"/>
            <a:ext cx="2707481" cy="2429656"/>
          </a:xfrm>
          <a:prstGeom prst="roundRect">
            <a:avLst>
              <a:gd name="adj" fmla="val 2352"/>
            </a:avLst>
          </a:prstGeom>
          <a:solidFill>
            <a:srgbClr val="131826"/>
          </a:solidFill>
          <a:ln w="7144">
            <a:solidFill>
              <a:srgbClr val="3FD0FF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13271" y="1943176"/>
            <a:ext cx="1075536" cy="184023"/>
          </a:xfrm>
          <a:prstGeom prst="roundRect">
            <a:avLst>
              <a:gd name="adj" fmla="val 15528"/>
            </a:avLst>
          </a:prstGeom>
          <a:solidFill>
            <a:srgbClr val="3FD0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36131" y="1953034"/>
            <a:ext cx="102981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79" normalizeH="0" baseline="0" noProof="0" dirty="0">
                <a:ln>
                  <a:noFill/>
                </a:ln>
                <a:solidFill>
                  <a:srgbClr val="0B0F1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DATA UPDATES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36131" y="2174491"/>
            <a:ext cx="2471738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6" b="1" i="0" u="none" strike="noStrike" kern="0" cap="none" spc="-1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Release Calendar</a:t>
            </a:r>
            <a:endParaRPr kumimoji="0" lang="en-US" sz="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36131" y="2405881"/>
            <a:ext cx="2471738" cy="119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Every Thursday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8:30 AM ET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— DOL Weekly Jobless Claims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First business day of month — ISM Manufacturing PMI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Mid-month — Federal Reserve G.17 Industrial Production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Daily — US Treasury par yield curve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Next FOMC meeting — Fed Funds rate decision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Update this dashboard monthly for fresh 4-dataset read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32897" y="1849450"/>
            <a:ext cx="2707481" cy="2429656"/>
          </a:xfrm>
          <a:prstGeom prst="roundRect">
            <a:avLst>
              <a:gd name="adj" fmla="val 2352"/>
            </a:avLst>
          </a:prstGeom>
          <a:solidFill>
            <a:srgbClr val="131826"/>
          </a:solidFill>
          <a:ln w="7144">
            <a:solidFill>
              <a:srgbClr val="5BD07D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27909" y="1943176"/>
            <a:ext cx="1181576" cy="184023"/>
          </a:xfrm>
          <a:prstGeom prst="roundRect">
            <a:avLst>
              <a:gd name="adj" fmla="val 15528"/>
            </a:avLst>
          </a:prstGeom>
          <a:solidFill>
            <a:srgbClr val="5BD07D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50769" y="1953034"/>
            <a:ext cx="11358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8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79" normalizeH="0" baseline="0" noProof="0" dirty="0">
                <a:ln>
                  <a:noFill/>
                </a:ln>
                <a:solidFill>
                  <a:srgbClr val="0B0F1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 ACTIONS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50769" y="2174491"/>
            <a:ext cx="2471738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6" b="1" i="0" u="none" strike="noStrike" kern="0" cap="none" spc="-1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What to Do Next</a:t>
            </a:r>
            <a:endParaRPr kumimoji="0" lang="en-US" sz="95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50769" y="2405881"/>
            <a:ext cx="2471738" cy="119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Monitor weekly Thursday claims for break above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Track monthly ISM PMI — break below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first caution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Watch 10Y yield range — break above 4.8%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= term premium repricing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Cross-check IP vs ISM monthly — divergence = warning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Re-run this analysis quarterly with fresh data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38"/>
              </a:lnSpc>
              <a:spcBef>
                <a:spcPts val="0"/>
              </a:spcBef>
              <a:spcAft>
                <a:spcPts val="3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5BD07D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Build alerts on the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Carlito" pitchFamily="34" charset="0"/>
                <a:ea typeface="Carlito" pitchFamily="34" charset="-122"/>
                <a:cs typeface="Carlito" pitchFamily="34" charset="-120"/>
              </a:rPr>
              <a:t> triggers from slide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8ECF3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03622" y="4371975"/>
            <a:ext cx="8336756" cy="267891"/>
          </a:xfrm>
          <a:prstGeom prst="roundRect">
            <a:avLst>
              <a:gd name="adj" fmla="val 14222"/>
            </a:avLst>
          </a:prstGeom>
          <a:solidFill>
            <a:srgbClr val="FFB454">
              <a:alpha val="8000"/>
            </a:srgbClr>
          </a:solidFill>
          <a:ln w="7144">
            <a:solidFill>
              <a:srgbClr val="FFB454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00050" y="4368403"/>
            <a:ext cx="8343900" cy="384048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marL="0" marR="0" lvl="0" indent="0" algn="ctr" defTabSz="914400" rtl="0" eaLnBrk="1" fontAlgn="auto" latinLnBrk="0" hangingPunct="1">
              <a:lnSpc>
                <a:spcPts val="9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1" normalizeH="0" baseline="0" noProof="0" dirty="0">
                <a:ln>
                  <a:noFill/>
                </a:ln>
                <a:solidFill>
                  <a:srgbClr val="3FD0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BASED ON 9,000+ OBSERVATIONS ACROSS 4 DATASETS (1948–2026)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 COMPLETE 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kumimoji="0" lang="en-US" sz="800" b="0" i="0" u="none" strike="noStrike" kern="0" cap="none" spc="31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UPDATE: JUL 1 ISM PMI + THURSDAY WEEKLY CLAIMS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0" y="4986338"/>
            <a:ext cx="9144000" cy="157163"/>
          </a:xfrm>
          <a:prstGeom prst="rect">
            <a:avLst/>
          </a:prstGeom>
          <a:solidFill>
            <a:srgbClr val="13182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0" y="4989909"/>
            <a:ext cx="9144000" cy="0"/>
          </a:xfrm>
          <a:prstGeom prst="line">
            <a:avLst/>
          </a:prstGeom>
          <a:noFill/>
          <a:ln w="7144">
            <a:solidFill>
              <a:srgbClr val="2A32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4300" y="5020270"/>
            <a:ext cx="766669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ISM + FED G.17 + US TREASURY + US DOL • ANALYTICS DESK • END OF MACRO DASHBOARD V2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795282" y="5020270"/>
            <a:ext cx="1308483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30" normalizeH="0" baseline="0" noProof="0" dirty="0">
                <a:ln>
                  <a:noFill/>
                </a:ln>
                <a:solidFill>
                  <a:srgbClr val="5C6577"/>
                </a:solidFill>
                <a:effectLst/>
                <a:uLnTx/>
                <a:uFillTx/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DASHBOARD V2 · COMPLETE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8185</Words>
  <Application>Microsoft Office PowerPoint</Application>
  <PresentationFormat>On-screen Show (16:9)</PresentationFormat>
  <Paragraphs>891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Carlito</vt:lpstr>
      <vt:lpstr>Liberation Sans Narrow</vt:lpstr>
      <vt:lpstr>Aptos</vt:lpstr>
      <vt:lpstr>Arial</vt:lpstr>
      <vt:lpstr>Calibri</vt:lpstr>
      <vt:lpstr>Courier New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Khajuria</cp:lastModifiedBy>
  <cp:revision>1</cp:revision>
  <dcterms:created xsi:type="dcterms:W3CDTF">2026-07-03T05:50:00Z</dcterms:created>
  <dcterms:modified xsi:type="dcterms:W3CDTF">2026-07-03T05:59:50Z</dcterms:modified>
</cp:coreProperties>
</file>